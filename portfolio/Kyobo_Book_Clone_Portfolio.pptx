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3840480" cy="3840480"/>
          </a:xfrm>
          <a:prstGeom prst="ellipse">
            <a:avLst/>
          </a:prstGeom>
          <a:solidFill>
            <a:srgbClr val="5E4585">
              <a:alpha val="45000"/>
            </a:srgbClr>
          </a:solidFill>
          <a:ln w="12700">
            <a:solidFill>
              <a:srgbClr val="5E458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3108960"/>
            <a:ext cx="2926080" cy="2926080"/>
          </a:xfrm>
          <a:prstGeom prst="ellipse">
            <a:avLst/>
          </a:prstGeom>
          <a:solidFill>
            <a:srgbClr val="8B6FAE">
              <a:alpha val="35000"/>
            </a:srgbClr>
          </a:solidFill>
          <a:ln w="12700">
            <a:solidFill>
              <a:srgbClr val="8B6FAE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-274320"/>
            <a:ext cx="2011680" cy="2011680"/>
          </a:xfrm>
          <a:prstGeom prst="ellipse">
            <a:avLst/>
          </a:prstGeom>
          <a:solidFill>
            <a:srgbClr val="4DAC27">
              <a:alpha val="45000"/>
            </a:srgbClr>
          </a:solidFill>
          <a:ln w="12700">
            <a:solidFill>
              <a:srgbClr val="4DAC2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68680"/>
            <a:ext cx="3931920" cy="347472"/>
          </a:xfrm>
          <a:prstGeom prst="roundRect">
            <a:avLst>
              <a:gd name="adj" fmla="val 23684"/>
            </a:avLst>
          </a:prstGeom>
          <a:solidFill>
            <a:srgbClr val="4DAC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· CSS · JavaScript · JSON · Kakao Book API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35024"/>
            <a:ext cx="8229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Kyobo Book Clone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8B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교보문고 UI를 참고한 API 연동형 도서 탐색 웹페이지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2560320" cy="36576"/>
          </a:xfrm>
          <a:prstGeom prst="rect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조은정</a:t>
            </a:r>
            <a:pPr indent="0" marL="0">
              <a:buNone/>
            </a:pPr>
            <a:r>
              <a:rPr lang="en-US" sz="1200" dirty="0">
                <a:solidFill>
                  <a:srgbClr val="9D8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Front-end Publishing Portfolio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8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ebj0925-cyber.github.io/0331_01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0599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8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github.com/ebj0925-cyber/0331_01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개요, 제작 목적, 구현 범위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754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8249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82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16459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교보문고 UI를 참고한 도서 탐색 웹페이지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7685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76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22402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연동 및 도서 탐색 흐름 구현 학습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범위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37360" y="28346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메인(index.html) + 상품 상세(sub.html)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65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7360" y="34290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Book API + JSON + localStorage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599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37360" y="40233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 카드 렌더링 / ISBN 기반 라우팅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0" y="1463040"/>
            <a:ext cx="32918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3212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32120" y="1984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F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구현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16642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+ 상세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2578608"/>
            <a:ext cx="32918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32120" y="26700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Kakao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32120" y="30998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F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 API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277977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외부 API 연동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3694176"/>
            <a:ext cx="32918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32120" y="378561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ISBN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32120" y="42153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F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라우팅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38953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쿼리스트링 파라미터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GOAL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Goal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화면 클론이 아닌 실질적 기능 구현을 목표로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886200" cy="3383280"/>
          </a:xfrm>
          <a:prstGeom prst="roundRect">
            <a:avLst>
              <a:gd name="adj" fmla="val 3243"/>
            </a:avLst>
          </a:prstGeom>
          <a:solidFill>
            <a:srgbClr val="EDE9F7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Problem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2140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0848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UI 복사로 "클론 = 흉내" 인식 위험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75234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없는 더미 데이터 → 평가 차별화 부족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4564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419856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화면만 있고 흐름이 없으면 포트폴리오 약함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1463040"/>
            <a:ext cx="41605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6002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Goal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212140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4DAC27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20848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Book API 실연동으로 데이터 기반 구현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77977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4DAC27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743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→ 카드 → 상세 → 구매 전체 흐름 완성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43814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4DAC27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4015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/ ISBN 라우팅 등 실무 감각 반영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409651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4DAC27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409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405993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"기능 개발자"로 포트폴리오 포지셔닝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POSITIONING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Positioning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"클론"보다 "도서 탐색 서비스"로 정의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EDE9F7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클론 프로젝트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029968"/>
            <a:ext cx="3383280" cy="0"/>
          </a:xfrm>
          <a:prstGeom prst="line">
            <a:avLst/>
          </a:prstGeom>
          <a:noFill/>
          <a:ln w="12700">
            <a:solidFill>
              <a:srgbClr val="9D8B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85416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12140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교보문고 화면을 그대로 복사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52344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68833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없이 HTML/CSS만 구현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19272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25526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하드코딩 더미 데이터 사용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82219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UI 재현에 그침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463040"/>
            <a:ext cx="41148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탐색 서비스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029968"/>
            <a:ext cx="3749040" cy="0"/>
          </a:xfrm>
          <a:prstGeom prst="line">
            <a:avLst/>
          </a:prstGeom>
          <a:noFill/>
          <a:ln w="12700">
            <a:solidFill>
              <a:srgbClr val="8B6F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185416"/>
            <a:ext cx="201168" cy="201168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212140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Book API로 실제 도서 데이터 검색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752344"/>
            <a:ext cx="201168" cy="201168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68833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카드 UI로 동적 렌더링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319272"/>
            <a:ext cx="201168" cy="201168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32552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기반 URL로 상세 페이지 연결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886200"/>
            <a:ext cx="201168" cy="201168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38221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구매/장바구니 UX 흐름 구현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60520" y="2651760"/>
            <a:ext cx="822960" cy="82296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645152"/>
            <a:ext cx="8229600" cy="347472"/>
          </a:xfrm>
          <a:prstGeom prst="roundRect">
            <a:avLst>
              <a:gd name="adj" fmla="val 26316"/>
            </a:avLst>
          </a:prstGeom>
          <a:solidFill>
            <a:srgbClr val="5E458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64515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교보문고 UI를 참고해 카카오 도서 API 기반 검색, 상세 조회, 구매 흐름을 구현한 도서 탐색 웹페이지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TECH 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기술 및 각 기술의 역할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72768"/>
            <a:ext cx="2432304" cy="292608"/>
          </a:xfrm>
          <a:prstGeom prst="roundRect">
            <a:avLst>
              <a:gd name="adj" fmla="val 21875"/>
            </a:avLst>
          </a:prstGeom>
          <a:solidFill>
            <a:srgbClr val="5E458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72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시맨틱 마크업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메인/상세 페이지 구조 설계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9272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572768"/>
            <a:ext cx="2432304" cy="292608"/>
          </a:xfrm>
          <a:prstGeom prst="roundRect">
            <a:avLst>
              <a:gd name="adj" fmla="val 21875"/>
            </a:avLst>
          </a:prstGeom>
          <a:solidFill>
            <a:srgbClr val="8B6FAE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572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59352" y="19202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 레이아웃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common/page 분리 스타일링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1072" y="1572768"/>
            <a:ext cx="2432304" cy="292608"/>
          </a:xfrm>
          <a:prstGeom prst="roundRect">
            <a:avLst>
              <a:gd name="adj" fmla="val 21875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1572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91072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21424" y="19202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 조작 / API 호출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처리 및 동적 렌더링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3310128"/>
            <a:ext cx="2432304" cy="292608"/>
          </a:xfrm>
          <a:prstGeom prst="roundRect">
            <a:avLst>
              <a:gd name="adj" fmla="val 21875"/>
            </a:avLst>
          </a:prstGeom>
          <a:solidFill>
            <a:srgbClr val="4DAC27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31012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97280" y="365760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비주얼 데이터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콘텐츠 관리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9272" y="320040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29000" y="3310128"/>
            <a:ext cx="2432304" cy="292608"/>
          </a:xfrm>
          <a:prstGeom prst="roundRect">
            <a:avLst>
              <a:gd name="adj" fmla="val 21875"/>
            </a:avLst>
          </a:prstGeom>
          <a:solidFill>
            <a:srgbClr val="3C1F8A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331012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Kakao Book 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59352" y="365760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검색 &amp; 상세 조회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외부 REST API 연동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81344" y="320040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91072" y="3310128"/>
            <a:ext cx="2432304" cy="292608"/>
          </a:xfrm>
          <a:prstGeom prst="roundRect">
            <a:avLst>
              <a:gd name="adj" fmla="val 21875"/>
            </a:avLst>
          </a:prstGeom>
          <a:solidFill>
            <a:srgbClr val="0F766E"/>
          </a:solidFill>
          <a:ln/>
        </p:spPr>
      </p:sp>
      <p:sp>
        <p:nvSpPr>
          <p:cNvPr id="33" name="Text 31"/>
          <p:cNvSpPr/>
          <p:nvPr/>
        </p:nvSpPr>
        <p:spPr>
          <a:xfrm>
            <a:off x="6291072" y="331012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91072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21424" y="365760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장바구니/구매 데이터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저장소 데모 처리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FEATURES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 기능 5가지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1536192" cy="34015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72768"/>
            <a:ext cx="1353312" cy="320040"/>
          </a:xfrm>
          <a:prstGeom prst="roundRect">
            <a:avLst>
              <a:gd name="adj" fmla="val 22857"/>
            </a:avLst>
          </a:prstGeom>
          <a:solidFill>
            <a:srgbClr val="8B6FA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Book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13533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호출로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도서 데이터 검색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1463040"/>
            <a:ext cx="1536192" cy="34015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76272" y="1572768"/>
            <a:ext cx="1353312" cy="320040"/>
          </a:xfrm>
          <a:prstGeom prst="roundRect">
            <a:avLst>
              <a:gd name="adj" fmla="val 22857"/>
            </a:avLst>
          </a:prstGeom>
          <a:solidFill>
            <a:srgbClr val="5E4585"/>
          </a:solidFill>
          <a:ln/>
        </p:spPr>
      </p:sp>
      <p:sp>
        <p:nvSpPr>
          <p:cNvPr id="14" name="Text 12"/>
          <p:cNvSpPr/>
          <p:nvPr/>
        </p:nvSpPr>
        <p:spPr>
          <a:xfrm>
            <a:off x="2176272" y="15727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76272" y="1956816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76272" y="2542032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렌더링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76272" y="3200400"/>
            <a:ext cx="13533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응답을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UI로 동적 생성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58184" y="1463040"/>
            <a:ext cx="1536192" cy="34015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9624" y="1572768"/>
            <a:ext cx="1353312" cy="320040"/>
          </a:xfrm>
          <a:prstGeom prst="roundRect">
            <a:avLst>
              <a:gd name="adj" fmla="val 22857"/>
            </a:avLst>
          </a:prstGeom>
          <a:solidFill>
            <a:srgbClr val="3C1F8A"/>
          </a:solidFill>
          <a:ln/>
        </p:spPr>
      </p:sp>
      <p:sp>
        <p:nvSpPr>
          <p:cNvPr id="20" name="Text 18"/>
          <p:cNvSpPr/>
          <p:nvPr/>
        </p:nvSpPr>
        <p:spPr>
          <a:xfrm>
            <a:off x="3849624" y="15727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9624" y="1956816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49624" y="2542032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이벤트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예외 처리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9624" y="3200400"/>
            <a:ext cx="13533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검색어/결과 없음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피드백 구현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31536" y="1463040"/>
            <a:ext cx="1536192" cy="34015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22976" y="1572768"/>
            <a:ext cx="1353312" cy="320040"/>
          </a:xfrm>
          <a:prstGeom prst="roundRect">
            <a:avLst>
              <a:gd name="adj" fmla="val 22857"/>
            </a:avLst>
          </a:prstGeom>
          <a:solidFill>
            <a:srgbClr val="4DAC27"/>
          </a:solidFill>
          <a:ln/>
        </p:spPr>
      </p:sp>
      <p:sp>
        <p:nvSpPr>
          <p:cNvPr id="26" name="Text 24"/>
          <p:cNvSpPr/>
          <p:nvPr/>
        </p:nvSpPr>
        <p:spPr>
          <a:xfrm>
            <a:off x="5522976" y="15727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22976" y="1956816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522976" y="2542032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기반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화면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22976" y="3200400"/>
            <a:ext cx="13533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main_visual.json으로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배너/콘텐츠 렌더링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04888" y="1463040"/>
            <a:ext cx="1536192" cy="34015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96328" y="1572768"/>
            <a:ext cx="1353312" cy="320040"/>
          </a:xfrm>
          <a:prstGeom prst="roundRect">
            <a:avLst>
              <a:gd name="adj" fmla="val 22857"/>
            </a:avLst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7196328" y="15727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96328" y="1956816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196328" y="2542032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기반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이동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96328" y="3200400"/>
            <a:ext cx="13533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쿼리스트링으로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페이지 연결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검색부터 구매까지의 사용자 흐름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8B6FA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92808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입력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108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입력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버튼 클릭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2450592"/>
            <a:ext cx="173736" cy="0"/>
          </a:xfrm>
          <a:prstGeom prst="line">
            <a:avLst/>
          </a:prstGeom>
          <a:noFill/>
          <a:ln w="25400">
            <a:solidFill>
              <a:srgbClr val="8B6F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93976" y="1874520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5E4585"/>
          </a:solidFill>
          <a:ln/>
        </p:spPr>
      </p:sp>
      <p:sp>
        <p:nvSpPr>
          <p:cNvPr id="12" name="Text 10"/>
          <p:cNvSpPr/>
          <p:nvPr/>
        </p:nvSpPr>
        <p:spPr>
          <a:xfrm>
            <a:off x="2093976" y="1892808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93976" y="23774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카드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93976" y="3108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응답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UI 렌더링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02736" y="2450592"/>
            <a:ext cx="173736" cy="0"/>
          </a:xfrm>
          <a:prstGeom prst="line">
            <a:avLst/>
          </a:prstGeom>
          <a:noFill/>
          <a:ln w="25400">
            <a:solidFill>
              <a:srgbClr val="8B6F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76472" y="1874520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3C1F8A"/>
          </a:solidFill>
          <a:ln/>
        </p:spPr>
      </p:sp>
      <p:sp>
        <p:nvSpPr>
          <p:cNvPr id="17" name="Text 15"/>
          <p:cNvSpPr/>
          <p:nvPr/>
        </p:nvSpPr>
        <p:spPr>
          <a:xfrm>
            <a:off x="3776472" y="1892808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76472" y="23774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클릭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76472" y="3108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파라미터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URL에 전달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85232" y="2450592"/>
            <a:ext cx="173736" cy="0"/>
          </a:xfrm>
          <a:prstGeom prst="line">
            <a:avLst/>
          </a:prstGeom>
          <a:noFill/>
          <a:ln w="25400">
            <a:solidFill>
              <a:srgbClr val="8B6F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1874520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8B6FAE"/>
          </a:solidFill>
          <a:ln/>
        </p:spPr>
      </p:sp>
      <p:sp>
        <p:nvSpPr>
          <p:cNvPr id="22" name="Text 20"/>
          <p:cNvSpPr/>
          <p:nvPr/>
        </p:nvSpPr>
        <p:spPr>
          <a:xfrm>
            <a:off x="5458968" y="1892808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58968" y="23774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페이지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58968" y="3108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동적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67728" y="2450592"/>
            <a:ext cx="173736" cy="0"/>
          </a:xfrm>
          <a:prstGeom prst="line">
            <a:avLst/>
          </a:prstGeom>
          <a:noFill/>
          <a:ln w="25400">
            <a:solidFill>
              <a:srgbClr val="8B6F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41464" y="1874520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4DAC27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1892808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41464" y="23774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구매/장바구니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41464" y="3108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처리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EDE9F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48056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예외 경로: 빈 검색어 → 토스트 알림 / 결과 없음 → 빈 상태 UI / API 오류 → 에러 메시지 표시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/ Page 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구성 및 정보 구조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84048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72768"/>
            <a:ext cx="3621024" cy="347472"/>
          </a:xfrm>
          <a:prstGeom prst="roundRect">
            <a:avLst>
              <a:gd name="adj" fmla="val 21053"/>
            </a:avLst>
          </a:prstGeom>
          <a:solidFill>
            <a:srgbClr val="8B6FAE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7276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index.html (메인)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2148840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574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— 검색창 / GNB / 전체메뉴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2651760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5603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Visual — JSON 기반 메인 배너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3154680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0632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 Books — 카테고리 탭 + 도서 카드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3657600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5661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 Pick — 추천 도서 섹션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" y="4160520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0690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— 이벤트 배너/기획전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384048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1572768"/>
            <a:ext cx="3621024" cy="347472"/>
          </a:xfrm>
          <a:prstGeom prst="roundRect">
            <a:avLst>
              <a:gd name="adj" fmla="val 21053"/>
            </a:avLst>
          </a:prstGeom>
          <a:solidFill>
            <a:srgbClr val="5E4585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157276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sub.html (상세)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19472" y="2148840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20574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Breadcrumb — 홈 &gt; 분야 경로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19472" y="2651760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25603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표지 + 상품 정보 카드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19472" y="3154680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30632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영역 — 수량/버튼/가격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19472" y="3657600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35661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섹션 — 상세/리뷰/교환반품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19472" y="4160520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40690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고정 구매바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87952" y="2697480"/>
            <a:ext cx="768096" cy="768096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87952" y="26974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ISBN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FOLDER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 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파일 및 폴더 역할 정리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69080" cy="3401568"/>
          </a:xfrm>
          <a:prstGeom prst="roundRect">
            <a:avLst>
              <a:gd name="adj" fmla="val 2688"/>
            </a:avLst>
          </a:prstGeom>
          <a:solidFill>
            <a:srgbClr val="1A103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72768"/>
            <a:ext cx="379476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0331_01/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sub.html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reset.css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common.css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main.css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sub.css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main.js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sub.js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json/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main_visual.json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img/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9776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4630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reset.css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93408" y="1463040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기본 스타일 초기화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938528"/>
            <a:ext cx="39776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19385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common.css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93408" y="193852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변수, 버튼, 레이아웃 스타일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2414016"/>
            <a:ext cx="39776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241401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93408" y="2414016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 전용 스타일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889504"/>
            <a:ext cx="39776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28032" y="288950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sub.css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93408" y="2889504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페이지 전용 스타일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364992"/>
            <a:ext cx="39776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336499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93408" y="336499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API 호출, 카드 렌더링, 인터랙션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840480"/>
            <a:ext cx="39776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28032" y="38404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sub.js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93408" y="3840480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파싱, 상세 데이터 렌더링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4315968"/>
            <a:ext cx="39776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28032" y="43159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main_visual.json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93408" y="431596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배너/퀵메뉴 정적 데이터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DESIGN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컬러 팔레트 및 UI 톤 정의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517904" cy="1920240"/>
          </a:xfrm>
          <a:prstGeom prst="roundRect">
            <a:avLst>
              <a:gd name="adj" fmla="val 7229"/>
            </a:avLst>
          </a:prstGeom>
          <a:solidFill>
            <a:srgbClr val="8B6FAE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40280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#8B6FAE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퍼플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82219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버튼, 강조, 카드 액센트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48840" y="1463040"/>
            <a:ext cx="1517904" cy="1920240"/>
          </a:xfrm>
          <a:prstGeom prst="roundRect">
            <a:avLst>
              <a:gd name="adj" fmla="val 7229"/>
            </a:avLst>
          </a:prstGeom>
          <a:solidFill>
            <a:srgbClr val="5E4585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48840" y="2240280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#5E4585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352044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 퍼플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382219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헤더, CTA, 진한 강조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0" y="1463040"/>
            <a:ext cx="1517904" cy="1920240"/>
          </a:xfrm>
          <a:prstGeom prst="roundRect">
            <a:avLst>
              <a:gd name="adj" fmla="val 7229"/>
            </a:avLst>
          </a:prstGeom>
          <a:solidFill>
            <a:srgbClr val="4DAC27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2240280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#4DAC27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352044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교보 그린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382219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가격, 혜택, 포인트 컬러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32120" y="1463040"/>
            <a:ext cx="1517904" cy="1920240"/>
          </a:xfrm>
          <a:prstGeom prst="roundRect">
            <a:avLst>
              <a:gd name="adj" fmla="val 7229"/>
            </a:avLst>
          </a:prstGeom>
          <a:solidFill>
            <a:srgbClr val="F8F6FB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32120" y="1463040"/>
            <a:ext cx="1517904" cy="1920240"/>
          </a:xfrm>
          <a:prstGeom prst="roundRect">
            <a:avLst>
              <a:gd name="adj" fmla="val 7229"/>
            </a:avLst>
          </a:prstGeom>
          <a:solidFill>
            <a:srgbClr val="F8F6FB"/>
          </a:solidFill>
          <a:ln w="9525">
            <a:solidFill>
              <a:srgbClr val="8B6F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2240280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#F8F6FB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352044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연보라 배경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382219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배경색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23760" y="1463040"/>
            <a:ext cx="1517904" cy="1920240"/>
          </a:xfrm>
          <a:prstGeom prst="roundRect">
            <a:avLst>
              <a:gd name="adj" fmla="val 7229"/>
            </a:avLst>
          </a:prstGeom>
          <a:solidFill>
            <a:srgbClr val="2A2A25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23760" y="2240280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#2A2A25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352044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진회색 텍스트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382219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본문, 설명 텍스트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370832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437083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폰트:  </a:t>
            </a:r>
            <a:pPr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Malgun Gothic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(한국어)  / </a:t>
            </a:r>
            <a:pPr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(제목/영문)  /  </a:t>
            </a:r>
            <a:pPr indent="0" marL="0">
              <a:buNone/>
            </a:pPr>
            <a:r>
              <a:rPr lang="en-US" sz="11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Courier New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(코드)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MAIN PAGE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Page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 전체 구성 및 주요 섹션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82496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824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83080" y="164592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검색창, GNB, 로그인, 전체메뉴 버튼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76856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768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비주얼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224028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기반 메인 배너 이미지 슬라이드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 도서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83080" y="283464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탭 + 도서 카드 리스트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655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 Pick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83080" y="342900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에디터 추천 도서 섹션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599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402336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배너 및 기획전 링크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463040"/>
            <a:ext cx="3931920" cy="3401568"/>
          </a:xfrm>
          <a:prstGeom prst="roundRect">
            <a:avLst>
              <a:gd name="adj" fmla="val 3226"/>
            </a:avLst>
          </a:prstGeom>
          <a:solidFill>
            <a:srgbClr val="EDE9F7"/>
          </a:solidFill>
          <a:ln w="9525">
            <a:solidFill>
              <a:srgbClr val="8B6FAE"/>
            </a:solidFill>
            <a:prstDash val="solid"/>
          </a:ln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1463040"/>
            <a:ext cx="3931920" cy="3401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6F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메인 페이지 전체 캡처 ]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HEADER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&amp; Search Area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구조, 검색창, GNB 및 전체 메뉴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20624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6420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영역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0" y="1627632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교보문고 로고 + 홈 링크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58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221992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검색 input + 검색 버튼 / Enter 이벤트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5292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52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2816352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메뉴 탭 (bestseller, 새책, 추천 등)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4728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47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메뉴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0" y="3410712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시 사이드 패널 슬라이드 인/아웃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4164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41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메뉴 닫기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4005072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 외부 영역 클릭 또는 X 버튼으로 닫기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3840480" cy="1719072"/>
          </a:xfrm>
          <a:prstGeom prst="roundRect">
            <a:avLst>
              <a:gd name="adj" fmla="val 6383"/>
            </a:avLst>
          </a:prstGeom>
          <a:solidFill>
            <a:srgbClr val="EDE9F7"/>
          </a:solidFill>
          <a:ln w="9525">
            <a:solidFill>
              <a:srgbClr val="8B6FAE"/>
            </a:solidFill>
            <a:prstDash val="solid"/>
          </a:ln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463040"/>
            <a:ext cx="38404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6F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헤더 &amp; 검색 영역 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273552"/>
            <a:ext cx="3840480" cy="1591056"/>
          </a:xfrm>
          <a:prstGeom prst="roundRect">
            <a:avLst>
              <a:gd name="adj" fmla="val 5747"/>
            </a:avLst>
          </a:prstGeom>
          <a:solidFill>
            <a:srgbClr val="1A1035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3832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searchBtn = document.querySelector('.search-btn');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input = document.querySelector('.search-input');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searchBtn.addEventListener('click', 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query = input.value.trim();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(!query)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showToast('검색어를 입력해주세요.');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fetchBooks(query);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input.addEventListener('keydown', e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(e.key === 'Enter') searchBtn.click();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API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Kakao Book API Search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도서 검색 REST API 호출 구조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17904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17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제공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55648" y="146304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Kakao Developers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901952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엔드포인트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55648" y="18470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dapi.kakao.com/v3/search/book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31136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228600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55648" y="223113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15184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2670048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6700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55648" y="2615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KakaoAK {REST_API_KEY}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9923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3054096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054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파라미터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55648" y="299923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(필수), target, sort, page, size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401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fetchBooks() 구현 코드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712464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1A1035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822192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fetchBooks(query)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KAKAO_URL + encodeURIComponent(query),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headers: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Authorization: 'KakaoAK YOUR_API_KEY'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(await res.json()).documents;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응답 필드 (documents[])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1828800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64608" y="1883664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18836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1828800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제목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231136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64608" y="2286000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22860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authors[]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55080" y="22311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 배열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2633472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64608" y="2688336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40" name="Text 38"/>
          <p:cNvSpPr/>
          <p:nvPr/>
        </p:nvSpPr>
        <p:spPr>
          <a:xfrm>
            <a:off x="4864608" y="26883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55080" y="2633472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출판사명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3035808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64608" y="3090672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44" name="Text 42"/>
          <p:cNvSpPr/>
          <p:nvPr/>
        </p:nvSpPr>
        <p:spPr>
          <a:xfrm>
            <a:off x="4864608" y="30906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thumbnail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55080" y="3035808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표지 이미지 URL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54880" y="3438144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64608" y="3493008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48" name="Text 46"/>
          <p:cNvSpPr/>
          <p:nvPr/>
        </p:nvSpPr>
        <p:spPr>
          <a:xfrm>
            <a:off x="4864608" y="34930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55080" y="3438144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식별자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54880" y="3840480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64608" y="3895344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52" name="Text 50"/>
          <p:cNvSpPr/>
          <p:nvPr/>
        </p:nvSpPr>
        <p:spPr>
          <a:xfrm>
            <a:off x="4864608" y="38953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55080" y="3840480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정가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54880" y="4242816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64608" y="4297680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56" name="Text 54"/>
          <p:cNvSpPr/>
          <p:nvPr/>
        </p:nvSpPr>
        <p:spPr>
          <a:xfrm>
            <a:off x="4864608" y="42976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sale_price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55080" y="424281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판매가 (-1 = 할인없음)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54880" y="4645152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864608" y="4700016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60" name="Text 58"/>
          <p:cNvSpPr/>
          <p:nvPr/>
        </p:nvSpPr>
        <p:spPr>
          <a:xfrm>
            <a:off x="4864608" y="470001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55080" y="4645152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소개 요약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CARD RENDER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Result Card Rendering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응답 데이터를 도서 카드 UI로 동적 생성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846320" cy="3401568"/>
          </a:xfrm>
          <a:prstGeom prst="roundRect">
            <a:avLst>
              <a:gd name="adj" fmla="val 2688"/>
            </a:avLst>
          </a:prstGeom>
          <a:solidFill>
            <a:srgbClr val="1A103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72768"/>
            <a:ext cx="457200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renderBookCards(books)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container = document.querySelector('.book-list');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container.innerHTML = '';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(books.length === 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showEmptyState(); return;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books.forEach(book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card = document.createElement('div');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card.className = 'book-card';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card.innerHTML =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&lt;img src="${book.thumbnail}" alt="${book.title}"&gt;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 class="title"&gt;${book.title}&lt;/p&gt;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 class="author"&gt;${book.authors.join(', ')}&lt;/p&gt;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 class="price"&gt;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${(book.sale_price &gt;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? book.sale_price : book.price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).toLocaleString()}원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&lt;/p&gt;`;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card.addEventListener('click', 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location.href = `sub.html?isbn=${book.isbn}`;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container.appendChild(card);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UI 구성 요소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3200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96128" y="1901952"/>
            <a:ext cx="1371600" cy="228600"/>
          </a:xfrm>
          <a:prstGeom prst="roundRect">
            <a:avLst>
              <a:gd name="adj" fmla="val 24000"/>
            </a:avLst>
          </a:prstGeom>
          <a:solidFill>
            <a:srgbClr val="5E4585"/>
          </a:solidFill>
          <a:ln/>
        </p:spPr>
      </p:sp>
      <p:sp>
        <p:nvSpPr>
          <p:cNvPr id="11" name="Text 9"/>
          <p:cNvSpPr/>
          <p:nvPr/>
        </p:nvSpPr>
        <p:spPr>
          <a:xfrm>
            <a:off x="5596128" y="1901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img.book-thumb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96128" y="2157984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thumbnail URL → 책 표지 이미지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2487168"/>
            <a:ext cx="3200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96128" y="2560320"/>
            <a:ext cx="1371600" cy="228600"/>
          </a:xfrm>
          <a:prstGeom prst="roundRect">
            <a:avLst>
              <a:gd name="adj" fmla="val 24000"/>
            </a:avLst>
          </a:prstGeom>
          <a:solidFill>
            <a:srgbClr val="5E4585"/>
          </a:solidFill>
          <a:ln/>
        </p:spPr>
      </p:sp>
      <p:sp>
        <p:nvSpPr>
          <p:cNvPr id="15" name="Text 13"/>
          <p:cNvSpPr/>
          <p:nvPr/>
        </p:nvSpPr>
        <p:spPr>
          <a:xfrm>
            <a:off x="5596128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p.title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96128" y="2816352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 → 도서 제목 (2줄 말줄임)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3145536"/>
            <a:ext cx="3200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96128" y="3218688"/>
            <a:ext cx="1371600" cy="228600"/>
          </a:xfrm>
          <a:prstGeom prst="roundRect">
            <a:avLst>
              <a:gd name="adj" fmla="val 24000"/>
            </a:avLst>
          </a:prstGeom>
          <a:solidFill>
            <a:srgbClr val="5E4585"/>
          </a:solidFill>
          <a:ln/>
        </p:spPr>
      </p:sp>
      <p:sp>
        <p:nvSpPr>
          <p:cNvPr id="19" name="Text 17"/>
          <p:cNvSpPr/>
          <p:nvPr/>
        </p:nvSpPr>
        <p:spPr>
          <a:xfrm>
            <a:off x="5596128" y="3218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p.author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96128" y="3474720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authors[] → join으로 저자 표시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3803904"/>
            <a:ext cx="3200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96128" y="3877056"/>
            <a:ext cx="1371600" cy="228600"/>
          </a:xfrm>
          <a:prstGeom prst="roundRect">
            <a:avLst>
              <a:gd name="adj" fmla="val 24000"/>
            </a:avLst>
          </a:prstGeom>
          <a:solidFill>
            <a:srgbClr val="5E4585"/>
          </a:solidFill>
          <a:ln/>
        </p:spPr>
      </p:sp>
      <p:sp>
        <p:nvSpPr>
          <p:cNvPr id="23" name="Text 21"/>
          <p:cNvSpPr/>
          <p:nvPr/>
        </p:nvSpPr>
        <p:spPr>
          <a:xfrm>
            <a:off x="5596128" y="38770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p.price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96128" y="4133088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sale_price 또는 price (fallback)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4462272"/>
            <a:ext cx="3200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96128" y="4535424"/>
            <a:ext cx="1371600" cy="228600"/>
          </a:xfrm>
          <a:prstGeom prst="roundRect">
            <a:avLst>
              <a:gd name="adj" fmla="val 24000"/>
            </a:avLst>
          </a:prstGeom>
          <a:solidFill>
            <a:srgbClr val="5E4585"/>
          </a:solidFill>
          <a:ln/>
        </p:spPr>
      </p:sp>
      <p:sp>
        <p:nvSpPr>
          <p:cNvPr id="27" name="Text 25"/>
          <p:cNvSpPr/>
          <p:nvPr/>
        </p:nvSpPr>
        <p:spPr>
          <a:xfrm>
            <a:off x="5596128" y="45354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클릭 이벤트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96128" y="4791456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파라미터로 sub.html 이동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ERROR HANDLING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Event &amp; Error Handling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검색어, 결과 없음, API 오류 피드백 처리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7004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267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487168" cy="274320"/>
          </a:xfrm>
          <a:prstGeom prst="roundRect">
            <a:avLst>
              <a:gd name="adj" fmla="val 23333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031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검색어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3230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"검색어를 입력해주세요."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67004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508760"/>
            <a:ext cx="267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📭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429000" y="2103120"/>
            <a:ext cx="2487168" cy="274320"/>
          </a:xfrm>
          <a:prstGeom prst="roundRect">
            <a:avLst>
              <a:gd name="adj" fmla="val 23333"/>
            </a:avLst>
          </a:prstGeom>
          <a:solidFill>
            <a:srgbClr val="8B6FAE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1031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 없음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43230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"검색 결과가 없습니다."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67004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508760"/>
            <a:ext cx="267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09360" y="2103120"/>
            <a:ext cx="2487168" cy="274320"/>
          </a:xfrm>
          <a:prstGeom prst="roundRect">
            <a:avLst>
              <a:gd name="adj" fmla="val 23333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1031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오류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43230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"잠시 후 다시 시도해주세요."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035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예외 처리 코드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46704"/>
            <a:ext cx="8229600" cy="1536192"/>
          </a:xfrm>
          <a:prstGeom prst="roundRect">
            <a:avLst>
              <a:gd name="adj" fmla="val 5952"/>
            </a:avLst>
          </a:prstGeom>
          <a:solidFill>
            <a:srgbClr val="1A1035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456432"/>
            <a:ext cx="795528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searchBooks(query)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빈 검색어 처리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(!query.trim())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showToast('검색어를 입력해주세요.'); return;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showLoading(true);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books = await fetchBooks(query);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2. 결과 없음 처리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(books.length === 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showEmptyState('검색 결과가 없습니다.'); return;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renderBookCards(books);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3. API 오류 처리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showError('잠시 후 다시 시도해주세요.');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console.error(err);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finally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showLoading(false);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JSON RENDER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Visual JSON Rendering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main_visual.json 기반 메인 배너/콘텐츠 동적 렌더링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4DAC2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main_visual.json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938528"/>
            <a:ext cx="320040" cy="0"/>
          </a:xfrm>
          <a:prstGeom prst="line">
            <a:avLst/>
          </a:prstGeom>
          <a:noFill/>
          <a:ln w="25400">
            <a:solidFill>
              <a:srgbClr val="8B6F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5087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5361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fetch() 호출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1938528"/>
            <a:ext cx="320040" cy="0"/>
          </a:xfrm>
          <a:prstGeom prst="line">
            <a:avLst/>
          </a:prstGeom>
          <a:noFill/>
          <a:ln w="25400">
            <a:solidFill>
              <a:srgbClr val="8B6F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5087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5E4585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5361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가공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1938528"/>
            <a:ext cx="320040" cy="0"/>
          </a:xfrm>
          <a:prstGeom prst="line">
            <a:avLst/>
          </a:prstGeom>
          <a:noFill/>
          <a:ln w="25400">
            <a:solidFill>
              <a:srgbClr val="8B6F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5087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3C1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5361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 렌더링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5786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코드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889504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A1035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999232"/>
            <a:ext cx="3749040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fetch('./json/main_visual.json')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 =&gt; res.json())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.then(data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renderBanners(data.banners);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renderQuickMenu(data.quickMenu);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renderBestBooks(data.best);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 =&gt; console.error('JSON 로드 실패', err));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25786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구조 예시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889504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A1035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999232"/>
            <a:ext cx="3749040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"banners":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"img": "banner01.jpg",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"link": "#", "alt": "이벤트 배너"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"quickMenu":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"icon": "best.svg", "label": "베스트"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"icon": "new.svg",  "label": "새책"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"best":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"isbn": "9788960179486",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"rank": 1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MAIN CONTENT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Content Sections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베스트, MD Pick, 이벤트 등 메인 콘텐츠 구성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70048" cy="3401568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72768"/>
            <a:ext cx="2487168" cy="347472"/>
          </a:xfrm>
          <a:prstGeom prst="roundRect">
            <a:avLst>
              <a:gd name="adj" fmla="val 21053"/>
            </a:avLst>
          </a:prstGeom>
          <a:solidFill>
            <a:srgbClr val="5E458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 Best Books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148840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574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탭 전환 (국내/외국/eBook...)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898648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80720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응답 기반 도서 카드 렌더링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648456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557016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클릭 → ISBN 파라미터로 상세 이동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463040"/>
            <a:ext cx="2670048" cy="3401568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0" y="1572768"/>
            <a:ext cx="2487168" cy="347472"/>
          </a:xfrm>
          <a:prstGeom prst="roundRect">
            <a:avLst>
              <a:gd name="adj" fmla="val 21053"/>
            </a:avLst>
          </a:prstGeom>
          <a:solidFill>
            <a:srgbClr val="8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5727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MD Pick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38728" y="2148840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3048" y="20574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 추천 도서 리스트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38728" y="2898648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3048" y="280720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+ 제목 + 짧은 코멘트 구성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38728" y="3648456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3048" y="3557016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hover 효과로 선택 유도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2670048" cy="3401568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572768"/>
            <a:ext cx="2487168" cy="347472"/>
          </a:xfrm>
          <a:prstGeom prst="roundRect">
            <a:avLst>
              <a:gd name="adj" fmla="val 21053"/>
            </a:avLst>
          </a:prstGeom>
          <a:solidFill>
            <a:srgbClr val="4DAC27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5727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🎉 Event / 기획전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19088" y="2148840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20574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배너 영역 (JSON 데이터 기반)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19088" y="2898648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280720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기획전 링크 카드 구성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19088" y="3648456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3557016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계절/특별 이벤트 배너 렌더링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INTERACTION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Page Interaction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탭, 슬라이드, 메뉴 열기/닫기, 클릭 이동 인터랙션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72768"/>
            <a:ext cx="3895344" cy="320040"/>
          </a:xfrm>
          <a:prstGeom prst="roundRect">
            <a:avLst>
              <a:gd name="adj" fmla="val 22857"/>
            </a:avLst>
          </a:prstGeom>
          <a:solidFill>
            <a:srgbClr val="8B6FAE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72768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전환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 카테고리 탭 클릭 시 콘텐츠 전환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dataset.category 기반 필터링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28032" y="1463040"/>
            <a:ext cx="41148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572768"/>
            <a:ext cx="3895344" cy="320040"/>
          </a:xfrm>
          <a:prstGeom prst="roundRect">
            <a:avLst>
              <a:gd name="adj" fmla="val 22857"/>
            </a:avLst>
          </a:prstGeom>
          <a:solidFill>
            <a:srgbClr val="5E4585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72768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배너 슬라이드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10912" y="19659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setInterval 기반 자동 슬라이드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인디케이터 클릭으로 수동 이동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41148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91840"/>
            <a:ext cx="3895344" cy="320040"/>
          </a:xfrm>
          <a:prstGeom prst="roundRect">
            <a:avLst>
              <a:gd name="adj" fmla="val 22857"/>
            </a:avLst>
          </a:prstGeom>
          <a:solidFill>
            <a:srgbClr val="3C1F8A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91840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메뉴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850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translateX CSS transition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overflow:hidden으로 배경 스크롤 방지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8032" y="3182112"/>
            <a:ext cx="41148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291840"/>
            <a:ext cx="3895344" cy="320040"/>
          </a:xfrm>
          <a:prstGeom prst="roundRect">
            <a:avLst>
              <a:gd name="adj" fmla="val 22857"/>
            </a:avLst>
          </a:prstGeom>
          <a:solidFill>
            <a:srgbClr val="4DAC27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291840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클릭 이동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10912" y="36850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book.isbn → location.href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sub.html?isbn=... 라우팅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DETAIL PAGE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Page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페이지 전체 구성 및 정보 구조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20624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6420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브레드크럼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20240" y="162763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&gt; 국내도서 &gt; 분야 경로 표시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표지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20240" y="213055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thumbnail 이미지 + 슬라이더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00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정보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20240" y="263347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제목, 저자, 출판사, ISBN, 가격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72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영역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20240" y="313639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조절(-/+), 구매 버튼 4종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67588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75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섹션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20240" y="363931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상세정보 / 리뷰 / 교환반품 전환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17880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78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구매바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20240" y="414223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고정 구매 액션 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463040"/>
            <a:ext cx="3840480" cy="3401568"/>
          </a:xfrm>
          <a:prstGeom prst="roundRect">
            <a:avLst>
              <a:gd name="adj" fmla="val 3226"/>
            </a:avLst>
          </a:prstGeom>
          <a:solidFill>
            <a:srgbClr val="EDE9F7"/>
          </a:solidFill>
          <a:ln w="9525">
            <a:solidFill>
              <a:srgbClr val="8B6FAE"/>
            </a:solidFill>
            <a:prstDash val="solid"/>
          </a:ln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1463040"/>
            <a:ext cx="3840480" cy="3401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6F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상세 페이지 전체 캡처 ]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ISBN 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ISBN Based Detail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파라미터 기반 상세 페이지 이동 흐름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050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72768"/>
            <a:ext cx="320040" cy="32004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554480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카드 클릭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901952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 검색 결과에서 도서 선택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0050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572768"/>
            <a:ext cx="320040" cy="32004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0368" y="1554480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→ URL 삽입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30368" y="1901952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location.href = "sub.html?isbn=97889..."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40050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743200"/>
            <a:ext cx="320040" cy="320040"/>
          </a:xfrm>
          <a:prstGeom prst="ellipse">
            <a:avLst/>
          </a:prstGeom>
          <a:solidFill>
            <a:srgbClr val="3C1F8A"/>
          </a:solidFill>
          <a:ln w="12700">
            <a:solidFill>
              <a:srgbClr val="3C1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724912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URLSearchParams 파싱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3072384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params.get("isbn")으로 ISBN 추출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633472"/>
            <a:ext cx="40050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743200"/>
            <a:ext cx="320040" cy="32004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30368" y="2724912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유효성 검사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3072384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없으면 index.html로 리다이렉트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803904"/>
            <a:ext cx="40050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3913632"/>
            <a:ext cx="320040" cy="32004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13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3895344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API 호출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4128" y="4242816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파라미터로 도서 상세 데이터 요청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803904"/>
            <a:ext cx="40050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913632"/>
            <a:ext cx="320040" cy="32004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913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3895344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화면 렌더링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4242816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응답으로 제목/저자/가격 등 출력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DATA RENDER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Data Rendering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제목, 저자, 출판사, 가격, 책소개 동적 렌더링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754880" cy="3401568"/>
          </a:xfrm>
          <a:prstGeom prst="roundRect">
            <a:avLst>
              <a:gd name="adj" fmla="val 2688"/>
            </a:avLst>
          </a:prstGeom>
          <a:solidFill>
            <a:srgbClr val="1A103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72768"/>
            <a:ext cx="448056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fetchBookDetail(isbn)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books = await fetchBooks(isbn);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(books.length === 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showError('도서 정보를 불러올 수 없습니다.'); return;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renderDetail(books[0]);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renderDetail(book)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document.querySelector('.book-title')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.textContent = book.title;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document.querySelector('.book-img')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.src = book.thumbnail;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document.querySelector('.author')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.textContent = book.authors.join(', 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sale_price == -1이면 정가 사용 (fallback)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price = book.sale_price &gt;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book.sale_price : book.price;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document.querySelector('.price')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.textContent = price.toLocaleString() + '원';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document.querySelector('.publisher')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.textContent = book.publisher;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document.querySelector('.intro')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.textContent = book.contents;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94960" y="1463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필드 → DOM 매핑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1828800"/>
            <a:ext cx="3291840" cy="338328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1883664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8836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0" y="1828800"/>
            <a:ext cx="274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8BBF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68896" y="1828800"/>
            <a:ext cx="14081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DAC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.book-title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0" y="2231136"/>
            <a:ext cx="3291840" cy="338328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2286000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22860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thumbnail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2231136"/>
            <a:ext cx="274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8BBF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68896" y="2231136"/>
            <a:ext cx="14081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DAC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.book-img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0" y="2633472"/>
            <a:ext cx="3291840" cy="338328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2688336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26883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authors[]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2633472"/>
            <a:ext cx="274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8BBF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68896" y="2633472"/>
            <a:ext cx="14081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DAC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.author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94960" y="3035808"/>
            <a:ext cx="3291840" cy="338328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3090672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30906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sale_price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3035808"/>
            <a:ext cx="274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8BBF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68896" y="3035808"/>
            <a:ext cx="14081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DAC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.price (fallback: price)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0" y="3438144"/>
            <a:ext cx="3291840" cy="338328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3493008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34930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3438144"/>
            <a:ext cx="274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8BBF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68896" y="3438144"/>
            <a:ext cx="14081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DAC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.publisher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94960" y="3840480"/>
            <a:ext cx="3291840" cy="338328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0" y="3895344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0" y="38953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3840480"/>
            <a:ext cx="274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8BBF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68896" y="3840480"/>
            <a:ext cx="14081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DAC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.intro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94960" y="4242816"/>
            <a:ext cx="3291840" cy="338328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0" y="4297680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0" y="42976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0" y="4242816"/>
            <a:ext cx="274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8BBF"/>
                </a:solidFill>
              </a:rPr>
              <a:t>→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68896" y="4242816"/>
            <a:ext cx="14081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DAC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.isbn-val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PRODUCT UI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Info UI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표지, 가격, 혜택, 배송 안내, 구매 영역 UI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1591056"/>
            <a:ext cx="1847088" cy="292608"/>
          </a:xfrm>
          <a:prstGeom prst="roundRect">
            <a:avLst>
              <a:gd name="adj" fmla="val 21875"/>
            </a:avLst>
          </a:prstGeom>
          <a:solidFill>
            <a:srgbClr val="8B6FAE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5910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표지 &amp; 슬라이더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96596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thumbnail 이미지 출력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앞/뒤면 슬라이드 구현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9272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9272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005072" y="1591056"/>
            <a:ext cx="1847088" cy="292608"/>
          </a:xfrm>
          <a:prstGeom prst="roundRect">
            <a:avLst>
              <a:gd name="adj" fmla="val 21875"/>
            </a:avLst>
          </a:prstGeom>
          <a:solidFill>
            <a:srgbClr val="5E4585"/>
          </a:solidFill>
          <a:ln/>
        </p:spPr>
      </p:sp>
      <p:sp>
        <p:nvSpPr>
          <p:cNvPr id="14" name="Text 12"/>
          <p:cNvSpPr/>
          <p:nvPr/>
        </p:nvSpPr>
        <p:spPr>
          <a:xfrm>
            <a:off x="4005072" y="15910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가격 정보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96596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정가 / 판매가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적립/혜택 포인트 표시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🚚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867144" y="1591056"/>
            <a:ext cx="1847088" cy="292608"/>
          </a:xfrm>
          <a:prstGeom prst="roundRect">
            <a:avLst>
              <a:gd name="adj" fmla="val 21875"/>
            </a:avLst>
          </a:prstGeom>
          <a:solidFill>
            <a:srgbClr val="3C1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867144" y="15910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안내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1072" y="196596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무료배송 여부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도착일 안내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182112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143000" y="3310128"/>
            <a:ext cx="1847088" cy="292608"/>
          </a:xfrm>
          <a:prstGeom prst="roundRect">
            <a:avLst>
              <a:gd name="adj" fmla="val 21875"/>
            </a:avLst>
          </a:prstGeom>
          <a:solidFill>
            <a:srgbClr val="4DAC27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3310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버튼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3685032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아이콘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공유 기능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9272" y="3182112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19272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📑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005072" y="3310128"/>
            <a:ext cx="1847088" cy="292608"/>
          </a:xfrm>
          <a:prstGeom prst="roundRect">
            <a:avLst>
              <a:gd name="adj" fmla="val 21875"/>
            </a:avLst>
          </a:prstGeom>
          <a:solidFill>
            <a:srgbClr val="8B6FAE"/>
          </a:solidFill>
          <a:ln/>
        </p:spPr>
      </p:sp>
      <p:sp>
        <p:nvSpPr>
          <p:cNvPr id="29" name="Text 27"/>
          <p:cNvSpPr/>
          <p:nvPr/>
        </p:nvSpPr>
        <p:spPr>
          <a:xfrm>
            <a:off x="4005072" y="3310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네비게이션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3685032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상세정보 / 리뷰 / 교환반품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전환 구현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81344" y="3182112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81344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867144" y="3310128"/>
            <a:ext cx="1847088" cy="292608"/>
          </a:xfrm>
          <a:prstGeom prst="roundRect">
            <a:avLst>
              <a:gd name="adj" fmla="val 21875"/>
            </a:avLst>
          </a:prstGeom>
          <a:solidFill>
            <a:srgbClr val="5E4585"/>
          </a:solidFill>
          <a:ln/>
        </p:spPr>
      </p:sp>
      <p:sp>
        <p:nvSpPr>
          <p:cNvPr id="34" name="Text 32"/>
          <p:cNvSpPr/>
          <p:nvPr/>
        </p:nvSpPr>
        <p:spPr>
          <a:xfrm>
            <a:off x="6867144" y="3310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영역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91072" y="3685032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평점, 리뷰 카운트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 리뷰 목록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PURCHASE UX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UX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선택, 장바구니, 바로구매 버튼 흐름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컨트롤 구현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1A103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92808"/>
            <a:ext cx="3749040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qty = 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pricePerUnit = parseInt(book.sale_price);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document.querySelector('.btn-minus')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.addEventListener('click', 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(qty &gt; 1) { qty--; updatePrice();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document.querySelector('.btn-plus')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.addEventListener('click', 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qty++; updatePrice();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updatePrice()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document.querySelector('.qty-display')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.textContent = qty;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document.querySelector('.total-price')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.textContent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(pricePerUnit * qty).toLocaleString() + '원';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3440" y="1463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버튼 4종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1911096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9110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선물하기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36208" y="1783080"/>
            <a:ext cx="23408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수신자 정보 입력 후 선물 주문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569464"/>
            <a:ext cx="4023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73168" y="2697480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8B6FAE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6208" y="2569464"/>
            <a:ext cx="23408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localStorage에 상품 추가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355848"/>
            <a:ext cx="4023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73168" y="3483864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5E4585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34838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바로드림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3355848"/>
            <a:ext cx="23408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교보문고 매장 픽업 주문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142232"/>
            <a:ext cx="4023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4270248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4DAC27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4270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바로구매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4142232"/>
            <a:ext cx="23408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구매 처리 (localStorage 저장)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FIXED BAR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Purchase Bar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고정 구매바로 구매 액션 접근성 개선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20624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64208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sticky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23160" y="162763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시에도 화면 하단에 고정 유지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58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총 상품 금액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23160" y="22219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변경 시 실시간 가격 업데이트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52928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529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수량 컨트롤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23160" y="281635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-/+ 버튼, 최솟값 1 제한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47288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472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4종 버튼 배치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23160" y="341071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선물 / 장바구니 / 바로드림 / 바로구매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41648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416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z-index 관리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23160" y="400507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요소 위에 항상 표시 (z-index:100)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3840480" cy="1810512"/>
          </a:xfrm>
          <a:prstGeom prst="roundRect">
            <a:avLst>
              <a:gd name="adj" fmla="val 6061"/>
            </a:avLst>
          </a:prstGeom>
          <a:solidFill>
            <a:srgbClr val="EDE9F7"/>
          </a:solidFill>
          <a:ln w="9525">
            <a:solidFill>
              <a:srgbClr val="8B6FAE"/>
            </a:solidFill>
            <a:prstDash val="solid"/>
          </a:ln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463040"/>
            <a:ext cx="384048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6F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하단 고정 구매바 UI 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364992"/>
            <a:ext cx="3840480" cy="1499616"/>
          </a:xfrm>
          <a:prstGeom prst="roundRect">
            <a:avLst>
              <a:gd name="adj" fmla="val 6098"/>
            </a:avLst>
          </a:prstGeom>
          <a:solidFill>
            <a:srgbClr val="1A1035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4747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.purchase-bar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sticky;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bottom: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z-index: 100;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#fff;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0 -2px 12px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rgba(0, 0, 0, 0.10);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12px 20px;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space-between;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LOCALSTORAGE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 Data Handling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장바구니/구매 데이터를 브라우저 저장소에 저장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846320" cy="3401568"/>
          </a:xfrm>
          <a:prstGeom prst="roundRect">
            <a:avLst>
              <a:gd name="adj" fmla="val 2688"/>
            </a:avLst>
          </a:prstGeom>
          <a:solidFill>
            <a:srgbClr val="1A103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72768"/>
            <a:ext cx="457200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장바구니 추가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addToCart(book, qty)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cart = JSON.parse(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localStorage.getItem('cart') || '[]'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exists = cart.find(b =&gt; b.isbn===book.isbn);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(exists)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exists.qty += qty;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cart.push({ ...book, qty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localStorage.setItem('cart', JSON.stringify(cart));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showToast('장바구니에 담겼습니다.');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구매 처리 (데모)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buyNow(book, qty)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order = { book, qty,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orderedAt: new Date().toISOString()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localStorage.setItem('order',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JSON.stringify(order));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location.href = 'order-complete.html';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및 한계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32004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96128" y="190195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5596128" y="1901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56832" y="18745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"cart", "order"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문자열로 직렬화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2633472"/>
            <a:ext cx="32004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96128" y="2706624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15" name="Text 13"/>
          <p:cNvSpPr/>
          <p:nvPr/>
        </p:nvSpPr>
        <p:spPr>
          <a:xfrm>
            <a:off x="5596128" y="2706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처리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56832" y="26791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비교 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누적 또는 신규 추가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3438144"/>
            <a:ext cx="32004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96128" y="351129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596128" y="35112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한계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56832" y="348386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미연동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초기화 시 데이터 소실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4242816"/>
            <a:ext cx="32004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96128" y="4315968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4DAC27"/>
          </a:solidFill>
          <a:ln/>
        </p:spPr>
      </p:sp>
      <p:sp>
        <p:nvSpPr>
          <p:cNvPr id="23" name="Text 21"/>
          <p:cNvSpPr/>
          <p:nvPr/>
        </p:nvSpPr>
        <p:spPr>
          <a:xfrm>
            <a:off x="5596128" y="4315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실서비스 개선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56832" y="428853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API 연동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인증 기반 저장 필요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REVIEW UI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Section UI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리뷰, 평점, 사용자 후기 UI 구성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20624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00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 리뷰 섹션 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93976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9397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 표시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74520" y="20574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아이콘 + 숫자 점수 (10점 만점)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24328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5E458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2432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카운트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74520" y="25877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 리뷰 수 표시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546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카드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74520" y="311810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 ID / 날짜 / 내용 / 별점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5E458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연동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74520" y="364845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클릭 시 "리뷰" 섹션 스크롤 이동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15384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1538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상태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74520" y="41788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없을 시 안내 메시지 표시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463040"/>
            <a:ext cx="3840480" cy="3401568"/>
          </a:xfrm>
          <a:prstGeom prst="roundRect">
            <a:avLst>
              <a:gd name="adj" fmla="val 3226"/>
            </a:avLst>
          </a:prstGeom>
          <a:solidFill>
            <a:srgbClr val="EDE9F7"/>
          </a:solidFill>
          <a:ln w="9525">
            <a:solidFill>
              <a:srgbClr val="8B6FAE"/>
            </a:solidFill>
            <a:prstDash val="solid"/>
          </a:ln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463040"/>
            <a:ext cx="3840480" cy="3401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6F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리뷰 섹션 UI 캡처 ]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RESPONSIVE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Layout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PC, 태블릿, 모바일 대응 및 가로 스크롤 개선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3401568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72768"/>
            <a:ext cx="2468880" cy="320040"/>
          </a:xfrm>
          <a:prstGeom prst="roundRect">
            <a:avLst>
              <a:gd name="adj" fmla="val 22857"/>
            </a:avLst>
          </a:prstGeom>
          <a:solidFill>
            <a:srgbClr val="5E458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(≥1024px)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103120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1168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1200px max-width 컨테이너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761488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67004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3-4열 그리드 레이아웃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419856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32841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 패널 오버레이 방식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9272" y="1463040"/>
            <a:ext cx="2651760" cy="3401568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10712" y="1572768"/>
            <a:ext cx="2468880" cy="320040"/>
          </a:xfrm>
          <a:prstGeom prst="roundRect">
            <a:avLst>
              <a:gd name="adj" fmla="val 22857"/>
            </a:avLst>
          </a:prstGeom>
          <a:solidFill>
            <a:srgbClr val="8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3410712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(768~1024px)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20440" y="2103120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201168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2열 그리드로 전환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2761488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67004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메뉴 간소화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0" y="3419856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332841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폰트 사이즈 조정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1463040"/>
            <a:ext cx="2651760" cy="3401568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72784" y="1572768"/>
            <a:ext cx="2468880" cy="320040"/>
          </a:xfrm>
          <a:prstGeom prst="roundRect">
            <a:avLst>
              <a:gd name="adj" fmla="val 22857"/>
            </a:avLst>
          </a:prstGeom>
          <a:solidFill>
            <a:srgbClr val="4DAC27"/>
          </a:solidFill>
          <a:ln/>
        </p:spPr>
      </p:sp>
      <p:sp>
        <p:nvSpPr>
          <p:cNvPr id="26" name="Text 24"/>
          <p:cNvSpPr/>
          <p:nvPr/>
        </p:nvSpPr>
        <p:spPr>
          <a:xfrm>
            <a:off x="6272784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(&lt; 768px)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82512" y="2103120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201168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1열 레이아웃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82512" y="2761488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267004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전체메뉴 풀스크린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82512" y="3419856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332841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스크롤 제거 (핵심 개선)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45152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EDE9F7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64515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핵심 개선: overflow-x:hidden 적용으로 모바일 가로 스크롤 제거 / viewport meta 오류 수정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REFACTORING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Refactoring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 파일 역할 분리 및 코드 구조 개선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840480" cy="3401568"/>
          </a:xfrm>
          <a:prstGeom prst="roundRect">
            <a:avLst>
              <a:gd name="adj" fmla="val 3226"/>
            </a:avLst>
          </a:prstGeom>
          <a:solidFill>
            <a:srgbClr val="EDE9F7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00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 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3840480" cy="2651760"/>
          </a:xfrm>
          <a:prstGeom prst="roundRect">
            <a:avLst>
              <a:gd name="adj" fmla="val 3448"/>
            </a:avLst>
          </a:prstGeom>
          <a:solidFill>
            <a:srgbClr val="1A103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39696"/>
            <a:ext cx="356616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style.css (단일 파일) */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리셋 */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margin:0; padding:0; ...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공통 */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 ...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 ...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메인 페이지 */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.main-banner { ...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.book-card { ...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상세 페이지 */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.book-title { ...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.purchase-btn { ...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→ 하나의 파일에 모든 스타일 혼재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유지보수 어려움 */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600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 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029968"/>
            <a:ext cx="3730752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56048" y="2121408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4DAC27"/>
          </a:solidFill>
          <a:ln/>
        </p:spPr>
      </p:sp>
      <p:sp>
        <p:nvSpPr>
          <p:cNvPr id="14" name="Text 12"/>
          <p:cNvSpPr/>
          <p:nvPr/>
        </p:nvSpPr>
        <p:spPr>
          <a:xfrm>
            <a:off x="4956048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reset.css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73952" y="2029968"/>
            <a:ext cx="1993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기본값 초기화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779776"/>
            <a:ext cx="3730752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56048" y="2871216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4DAC27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common.css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73952" y="2779776"/>
            <a:ext cx="1993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변수, 공통 컴포넌트, 레이아웃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529584"/>
            <a:ext cx="3730752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56048" y="3621024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4DAC27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73952" y="3529584"/>
            <a:ext cx="1993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 전용 스타일만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4279392"/>
            <a:ext cx="3730752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56048" y="4370832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4DAC27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sub.css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73952" y="4279392"/>
            <a:ext cx="1993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페이지 전용 스타일만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RISK MGMT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노출 방지 및 표현 리스크 관리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05072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3619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234440" y="1609344"/>
            <a:ext cx="310896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16093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노출 리스크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084832"/>
            <a:ext cx="3785616" cy="59436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03120"/>
            <a:ext cx="3602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문제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322576"/>
            <a:ext cx="3602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JavaScript 코드에 API 키 하드코딩 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저장소에 그대로 노출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779776"/>
            <a:ext cx="3785616" cy="475488"/>
          </a:xfrm>
          <a:prstGeom prst="roundRect">
            <a:avLst>
              <a:gd name="adj" fmla="val 15385"/>
            </a:avLst>
          </a:prstGeom>
          <a:solidFill>
            <a:srgbClr val="E8F5E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798064"/>
            <a:ext cx="3602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단기 대응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2962656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내 YOUR_API_KEY로 표기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(실제 키는 .env 또는 별도 관리)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346704"/>
            <a:ext cx="3785616" cy="475488"/>
          </a:xfrm>
          <a:prstGeom prst="roundRect">
            <a:avLst>
              <a:gd name="adj" fmla="val 15385"/>
            </a:avLst>
          </a:prstGeom>
          <a:solidFill>
            <a:srgbClr val="EDE9F7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364992"/>
            <a:ext cx="3602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장기 개선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529584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실서비스에서는 백엔드 프록시 구조로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키를 서버에서만 사용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4005072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8B6FAE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153619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5440680" y="1609344"/>
            <a:ext cx="3108960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16093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"클론" 표현 리스크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73168" y="2084832"/>
            <a:ext cx="3785616" cy="59436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2103120"/>
            <a:ext cx="3602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문제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64608" y="2322576"/>
            <a:ext cx="3602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클론 = 흉내로 오해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차별화 어려움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3168" y="2779776"/>
            <a:ext cx="3785616" cy="475488"/>
          </a:xfrm>
          <a:prstGeom prst="roundRect">
            <a:avLst>
              <a:gd name="adj" fmla="val 15385"/>
            </a:avLst>
          </a:prstGeom>
          <a:solidFill>
            <a:srgbClr val="E8F5E2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2798064"/>
            <a:ext cx="3602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단기 대응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2962656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제목: Kyobo Book Clone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(학습/연습 목적 명시)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73168" y="3346704"/>
            <a:ext cx="3785616" cy="475488"/>
          </a:xfrm>
          <a:prstGeom prst="roundRect">
            <a:avLst>
              <a:gd name="adj" fmla="val 15385"/>
            </a:avLst>
          </a:prstGeom>
          <a:solidFill>
            <a:srgbClr val="EDE9F7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3364992"/>
            <a:ext cx="3602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장기 개선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3529584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설명: "교보문고 UI를 참고한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연동형 도서 탐색 웹페이지"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D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5E4585">
              <a:alpha val="40000"/>
            </a:srgbClr>
          </a:solidFill>
          <a:ln w="12700">
            <a:solidFill>
              <a:srgbClr val="5E458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8B6FAE">
              <a:alpha val="35000"/>
            </a:srgbClr>
          </a:solidFill>
          <a:ln w="12700">
            <a:solidFill>
              <a:srgbClr val="8B6FAE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657600"/>
            <a:ext cx="1828800" cy="1828800"/>
          </a:xfrm>
          <a:prstGeom prst="ellipse">
            <a:avLst/>
          </a:prstGeom>
          <a:solidFill>
            <a:srgbClr val="4DAC27">
              <a:alpha val="45000"/>
            </a:srgbClr>
          </a:solidFill>
          <a:ln w="12700">
            <a:solidFill>
              <a:srgbClr val="4DAC2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4D3A7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RESULT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&amp; Retrospective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3D2A6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8B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 GitHub Pages:  </a:t>
            </a:r>
            <a:pPr indent="0" marL="0">
              <a:buNone/>
            </a:pPr>
            <a:r>
              <a:rPr lang="en-US" sz="1200" b="1" dirty="0">
                <a:solidFill>
                  <a:srgbClr val="4DA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ebj0925-cyber.github.io/0331_01</a:t>
            </a:r>
            <a:pPr indent="0" marL="0">
              <a:buNone/>
            </a:pPr>
            <a:r>
              <a:rPr lang="en-US" sz="1200" dirty="0">
                <a:solidFill>
                  <a:srgbClr val="9D8B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📁  Repo:  </a:t>
            </a:r>
            <a:pPr indent="0" marL="0">
              <a:buNone/>
            </a:pPr>
            <a:r>
              <a:rPr lang="en-US" sz="1200" dirty="0">
                <a:solidFill>
                  <a:srgbClr val="9D8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github.com/ebj0925-cyber/0331_01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2697480" cy="2944368"/>
          </a:xfrm>
          <a:prstGeom prst="roundRect">
            <a:avLst>
              <a:gd name="adj" fmla="val 4068"/>
            </a:avLst>
          </a:prstGeom>
          <a:solidFill>
            <a:srgbClr val="3D2A6A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029968"/>
            <a:ext cx="2514600" cy="320040"/>
          </a:xfrm>
          <a:prstGeom prst="roundRect">
            <a:avLst>
              <a:gd name="adj" fmla="val 22857"/>
            </a:avLst>
          </a:prstGeom>
          <a:solidFill>
            <a:srgbClr val="8B6FA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299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 배운 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42032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6888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REST API 데이터를 화면 구조에 맞게 가공하는 경험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090672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01752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기반 URL 파라미터 라우팅 실무 패턴 이해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639312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6616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처리(빈 검색어 / 결과 없음 / API 오류) 구조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4187952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1480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 역할 분리 (reset / common / page)로 유지보수성 향상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10128" y="1920240"/>
            <a:ext cx="2697480" cy="2944368"/>
          </a:xfrm>
          <a:prstGeom prst="roundRect">
            <a:avLst>
              <a:gd name="adj" fmla="val 4068"/>
            </a:avLst>
          </a:prstGeom>
          <a:solidFill>
            <a:srgbClr val="3D2A6A"/>
          </a:solidFill>
          <a:ln/>
        </p:spPr>
      </p:sp>
      <p:sp>
        <p:nvSpPr>
          <p:cNvPr id="22" name="Shape 20"/>
          <p:cNvSpPr/>
          <p:nvPr/>
        </p:nvSpPr>
        <p:spPr>
          <a:xfrm>
            <a:off x="3401568" y="2029968"/>
            <a:ext cx="2514600" cy="320040"/>
          </a:xfrm>
          <a:prstGeom prst="roundRect">
            <a:avLst>
              <a:gd name="adj" fmla="val 22857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3401568" y="20299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아쉬운 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93008" y="254203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246888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장바구니/구매는 localStorage 데모 수준 (서버 미연동)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93008" y="309067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67328" y="301752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키가 클라이언트에 노출되는 보안 리스크 존재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93008" y="363931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67328" y="356616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 페이지네이션 미구현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93008" y="418795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67328" y="411480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리뷰 데이터 연동 미완성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63056" y="1920240"/>
            <a:ext cx="2697480" cy="2944368"/>
          </a:xfrm>
          <a:prstGeom prst="roundRect">
            <a:avLst>
              <a:gd name="adj" fmla="val 4068"/>
            </a:avLst>
          </a:prstGeom>
          <a:solidFill>
            <a:srgbClr val="3D2A6A"/>
          </a:solidFill>
          <a:ln/>
        </p:spPr>
      </p:sp>
      <p:sp>
        <p:nvSpPr>
          <p:cNvPr id="33" name="Shape 31"/>
          <p:cNvSpPr/>
          <p:nvPr/>
        </p:nvSpPr>
        <p:spPr>
          <a:xfrm>
            <a:off x="6254496" y="2029968"/>
            <a:ext cx="2514600" cy="320040"/>
          </a:xfrm>
          <a:prstGeom prst="roundRect">
            <a:avLst>
              <a:gd name="adj" fmla="val 22857"/>
            </a:avLst>
          </a:prstGeom>
          <a:solidFill>
            <a:srgbClr val="4DAC27"/>
          </a:solidFill>
          <a:ln/>
        </p:spPr>
      </p:sp>
      <p:sp>
        <p:nvSpPr>
          <p:cNvPr id="34" name="Text 32"/>
          <p:cNvSpPr/>
          <p:nvPr/>
        </p:nvSpPr>
        <p:spPr>
          <a:xfrm>
            <a:off x="6254496" y="20299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개선 가능성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45936" y="2542032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246888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백엔드 프록시로 API 키 보안 처리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45936" y="3090672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0256" y="301752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→ 실제 서버 DB 연동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45936" y="3639312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0256" y="356616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자동완성 및 페이지네이션 추가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45936" y="4187952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0256" y="411480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React/Next.js로 컴포넌트화 리팩토링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Kyobo Book Clone Portfolio</dc:title>
  <dc:subject>PptxGenJS Presentation</dc:subject>
  <dc:creator>조은정</dc:creator>
  <cp:lastModifiedBy>조은정</cp:lastModifiedBy>
  <cp:revision>1</cp:revision>
  <dcterms:created xsi:type="dcterms:W3CDTF">2026-06-18T08:37:27Z</dcterms:created>
  <dcterms:modified xsi:type="dcterms:W3CDTF">2026-06-18T08:37:27Z</dcterms:modified>
</cp:coreProperties>
</file>