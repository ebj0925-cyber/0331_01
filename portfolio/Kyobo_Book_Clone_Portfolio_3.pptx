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96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402-16" initials="41" lastIdx="1" clrIdx="0">
    <p:extLst>
      <p:ext uri="{19B8F6BF-5375-455C-9EA6-DF929625EA0E}">
        <p15:presenceInfo xmlns:p15="http://schemas.microsoft.com/office/powerpoint/2012/main" userId="402-16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22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4652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2356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3840480" cy="3840480"/>
          </a:xfrm>
          <a:prstGeom prst="ellipse">
            <a:avLst/>
          </a:prstGeom>
          <a:solidFill>
            <a:srgbClr val="5E4585">
              <a:alpha val="45000"/>
            </a:srgbClr>
          </a:solidFill>
          <a:ln w="12700">
            <a:solidFill>
              <a:srgbClr val="5E4585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3108960"/>
            <a:ext cx="2926080" cy="2926080"/>
          </a:xfrm>
          <a:prstGeom prst="ellipse">
            <a:avLst/>
          </a:prstGeom>
          <a:solidFill>
            <a:srgbClr val="8B6FAE">
              <a:alpha val="35000"/>
            </a:srgbClr>
          </a:solidFill>
          <a:ln w="12700">
            <a:solidFill>
              <a:srgbClr val="8B6FAE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-274320"/>
            <a:ext cx="2011680" cy="2011680"/>
          </a:xfrm>
          <a:prstGeom prst="ellipse">
            <a:avLst/>
          </a:prstGeom>
          <a:solidFill>
            <a:srgbClr val="4DAC27">
              <a:alpha val="45000"/>
            </a:srgbClr>
          </a:solidFill>
          <a:ln w="12700">
            <a:solidFill>
              <a:srgbClr val="4DAC27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868680"/>
            <a:ext cx="3931920" cy="347472"/>
          </a:xfrm>
          <a:prstGeom prst="roundRect">
            <a:avLst>
              <a:gd name="adj" fmla="val 23684"/>
            </a:avLst>
          </a:prstGeom>
          <a:solidFill>
            <a:srgbClr val="4DAC2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· CSS · JavaScript · JSON · Kakao Book API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35024"/>
            <a:ext cx="82296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Kyobo Book Clone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D8B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교보문고 UI를 참고한 API 연동형 도서 탐색 웹페이지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2560320" cy="36576"/>
          </a:xfrm>
          <a:prstGeom prst="rect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조은정</a:t>
            </a:r>
            <a:r>
              <a:rPr lang="en-US" sz="1200" dirty="0">
                <a:solidFill>
                  <a:srgbClr val="9D8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ko-KR" altLang="en-US" sz="1200" dirty="0">
                <a:solidFill>
                  <a:srgbClr val="9D8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프로젝트 </a:t>
            </a:r>
            <a:r>
              <a:rPr lang="en-US" altLang="ko-KR" sz="1200" dirty="0">
                <a:solidFill>
                  <a:srgbClr val="9D8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ko-KR" altLang="en-US" sz="1200" dirty="0">
                <a:solidFill>
                  <a:srgbClr val="9D8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기여도 </a:t>
            </a:r>
            <a:r>
              <a:rPr lang="en-US" altLang="ko-KR" sz="1200" dirty="0">
                <a:solidFill>
                  <a:srgbClr val="9D8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· </a:t>
            </a:r>
            <a:r>
              <a:rPr lang="en-US" sz="1200" dirty="0">
                <a:solidFill>
                  <a:srgbClr val="9D8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 Publishing / API </a:t>
            </a:r>
            <a:r>
              <a:rPr lang="ko-KR" altLang="en-US" sz="1200" dirty="0">
                <a:solidFill>
                  <a:srgbClr val="9D8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8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ebj0925-cyber.github.io/0331_01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05993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8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 github.com/ebj0925-cyber/0331_01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Summary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개요, 제작 목적, 구현 범위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7548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82496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824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37360" y="164592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교보문고 UI를 참고한 도서 탐색 웹페이지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276856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768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37360" y="224028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연동 및 도서 탐색 흐름 구현 학습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범위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37360" y="28346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</a:t>
            </a: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</a:t>
            </a: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(index.html) + </a:t>
            </a:r>
            <a:r>
              <a:rPr lang="ko-KR" alt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페이지</a:t>
            </a: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(sub.html)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65576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655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37360" y="342900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Kakao Book API + JSON + localStorage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059936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599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37360" y="40233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카드 렌더링 / ISBN 기반 라우팅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94960" y="1463040"/>
            <a:ext cx="3291840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3212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532120" y="19842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6F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구현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23760" y="166420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+ 상세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94960" y="2578608"/>
            <a:ext cx="3291840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32120" y="267004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Kakao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32120" y="30998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6F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Book API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23760" y="277977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 외부 API 연동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94960" y="3694176"/>
            <a:ext cx="3291840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532120" y="378561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ISBN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532120" y="42153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6F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라우팅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23760" y="389534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쿼리스트링 파라미터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GOAL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Goal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화면 클론이 아닌 실질적 기능 구현을 목표로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886200" cy="3383280"/>
          </a:xfrm>
          <a:prstGeom prst="roundRect">
            <a:avLst>
              <a:gd name="adj" fmla="val 3243"/>
            </a:avLst>
          </a:prstGeom>
          <a:solidFill>
            <a:srgbClr val="EDE9F7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 Problem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12140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21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08483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</a:t>
            </a: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UI </a:t>
            </a:r>
            <a:r>
              <a:rPr lang="en-US" sz="1100" dirty="0" err="1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복사로</a:t>
            </a: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</a:t>
            </a:r>
            <a:r>
              <a:rPr lang="en-US" sz="1100" dirty="0" err="1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클론</a:t>
            </a: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</a:t>
            </a:r>
            <a:r>
              <a:rPr lang="en-US" sz="1100" dirty="0" err="1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흉내</a:t>
            </a: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</a:t>
            </a:r>
            <a:r>
              <a:rPr lang="en-US" sz="1100" dirty="0" err="1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인식</a:t>
            </a: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88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752344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없는 더미 데이터 → 평가 차별화 부족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45643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56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419856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화면만 있고 흐름이 없으면 포트폴리오 약함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26280" y="1463040"/>
            <a:ext cx="41605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Text 16"/>
          <p:cNvSpPr/>
          <p:nvPr/>
        </p:nvSpPr>
        <p:spPr>
          <a:xfrm>
            <a:off x="4709160" y="160020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Goal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9160" y="212140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4DAC27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2121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208483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Kakao Book API 실연동으로 데이터 기반 구현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77977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4DAC27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2743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→ 카드 → 상세 → 구매 전체 흐름 완성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43814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4DAC27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3438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74920" y="34015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/ ISBN 라우팅 등 실무 감각 반영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409651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4DAC27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4096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74920" y="405993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100" dirty="0"/>
              <a:t>UI </a:t>
            </a:r>
            <a:r>
              <a:rPr lang="ko-KR" altLang="en-US" sz="1100" dirty="0"/>
              <a:t>구현 능력과 </a:t>
            </a:r>
            <a:r>
              <a:rPr lang="en-US" altLang="ko-KR" sz="1100" dirty="0"/>
              <a:t>JavaScript </a:t>
            </a:r>
            <a:r>
              <a:rPr lang="ko-KR" altLang="en-US" sz="1100" dirty="0"/>
              <a:t>기능 구현 역량을 함께 보여주는 포트폴리오로 포지셔닝</a:t>
            </a:r>
            <a:endParaRPr lang="en-US" sz="1100" dirty="0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96F184F8-888F-411F-A86B-63D2337BE429}"/>
              </a:ext>
            </a:extLst>
          </p:cNvPr>
          <p:cNvSpPr/>
          <p:nvPr/>
        </p:nvSpPr>
        <p:spPr>
          <a:xfrm>
            <a:off x="457200" y="533781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Goal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POSITIONING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Positioning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"클론"보다 "도서 탐색 서비스"로 정의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49803" y="1444752"/>
            <a:ext cx="3749040" cy="3383280"/>
          </a:xfrm>
          <a:prstGeom prst="roundRect">
            <a:avLst>
              <a:gd name="adj" fmla="val 3243"/>
            </a:avLst>
          </a:prstGeom>
          <a:solidFill>
            <a:srgbClr val="EDE9F7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00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클론 프로젝트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029968"/>
            <a:ext cx="3383280" cy="0"/>
          </a:xfrm>
          <a:prstGeom prst="line">
            <a:avLst/>
          </a:prstGeom>
          <a:noFill/>
          <a:ln w="12700">
            <a:solidFill>
              <a:srgbClr val="9D8B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85416"/>
            <a:ext cx="201168" cy="20116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12140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교보문고 화면을 그대로 복사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52344"/>
            <a:ext cx="201168" cy="20116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68833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없이 HTML/CSS만 구현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319272"/>
            <a:ext cx="201168" cy="20116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25526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하드코딩 더미 데이터 사용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886200"/>
            <a:ext cx="201168" cy="20116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82219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UI 재현에 그침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463040"/>
            <a:ext cx="411480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탐색 서비스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2029968"/>
            <a:ext cx="3749040" cy="0"/>
          </a:xfrm>
          <a:prstGeom prst="line">
            <a:avLst/>
          </a:prstGeom>
          <a:noFill/>
          <a:ln w="12700">
            <a:solidFill>
              <a:srgbClr val="8B6F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185416"/>
            <a:ext cx="201168" cy="201168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212140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Kakao Book API로 실제 도서 데이터 검색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752344"/>
            <a:ext cx="201168" cy="201168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268833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결과를 카드 UI로 동적 렌더링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319272"/>
            <a:ext cx="201168" cy="201168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47488" y="325526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ISBN 기반 URL로 상세 페이지 연결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886200"/>
            <a:ext cx="201168" cy="201168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382219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구매/장바구니 UX 흐름 구현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645152"/>
            <a:ext cx="8229600" cy="347472"/>
          </a:xfrm>
          <a:prstGeom prst="roundRect">
            <a:avLst>
              <a:gd name="adj" fmla="val 26316"/>
            </a:avLst>
          </a:prstGeom>
          <a:solidFill>
            <a:srgbClr val="5E458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64515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교보문고 UI를 참고해 카카오 도서 API 기반 검색, 상세 조회, 구매 흐름을 구현한 도서 탐색 웹페이지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TECH STACK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기술 및 각 기술의 역할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572768"/>
            <a:ext cx="2432304" cy="292608"/>
          </a:xfrm>
          <a:prstGeom prst="roundRect">
            <a:avLst>
              <a:gd name="adj" fmla="val 21875"/>
            </a:avLst>
          </a:prstGeom>
          <a:solidFill>
            <a:srgbClr val="5E458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57276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19202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시맨틱 마크업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메인/상세 페이지 구조 설계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19272" y="146304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572768"/>
            <a:ext cx="2432304" cy="292608"/>
          </a:xfrm>
          <a:prstGeom prst="roundRect">
            <a:avLst>
              <a:gd name="adj" fmla="val 21875"/>
            </a:avLst>
          </a:prstGeom>
          <a:solidFill>
            <a:srgbClr val="8B6FAE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57276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59352" y="19202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반응형 레이아웃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common/page 분리 스타일링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81344" y="146304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91072" y="1572768"/>
            <a:ext cx="2432304" cy="292608"/>
          </a:xfrm>
          <a:prstGeom prst="roundRect">
            <a:avLst>
              <a:gd name="adj" fmla="val 21875"/>
            </a:avLst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291072" y="157276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91072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21424" y="19202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DOM 조작 / API 호출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처리 및 동적 렌더링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" y="3310128"/>
            <a:ext cx="2432304" cy="292608"/>
          </a:xfrm>
          <a:prstGeom prst="roundRect">
            <a:avLst>
              <a:gd name="adj" fmla="val 21875"/>
            </a:avLst>
          </a:prstGeom>
          <a:solidFill>
            <a:srgbClr val="4DAC27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31012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97280" y="365760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비주얼 데이터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콘텐츠 관리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19272" y="320040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29000" y="3310128"/>
            <a:ext cx="2432304" cy="292608"/>
          </a:xfrm>
          <a:prstGeom prst="roundRect">
            <a:avLst>
              <a:gd name="adj" fmla="val 21875"/>
            </a:avLst>
          </a:prstGeom>
          <a:solidFill>
            <a:srgbClr val="3C1F8A"/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331012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Kakao Book API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2900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959352" y="365760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검색 &amp; 상세 조회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외부 REST API 연동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81344" y="320040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91072" y="3310128"/>
            <a:ext cx="2432304" cy="292608"/>
          </a:xfrm>
          <a:prstGeom prst="roundRect">
            <a:avLst>
              <a:gd name="adj" fmla="val 21875"/>
            </a:avLst>
          </a:prstGeom>
          <a:solidFill>
            <a:srgbClr val="0F766E"/>
          </a:solidFill>
          <a:ln/>
        </p:spPr>
      </p:sp>
      <p:sp>
        <p:nvSpPr>
          <p:cNvPr id="33" name="Text 31"/>
          <p:cNvSpPr/>
          <p:nvPr/>
        </p:nvSpPr>
        <p:spPr>
          <a:xfrm>
            <a:off x="6291072" y="331012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91072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821424" y="365760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장바구니/구매 데이터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저장소 데모 처리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FEATURES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 Summary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구현 기능 5가지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1536192" cy="340156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72768"/>
            <a:ext cx="1353312" cy="320040"/>
          </a:xfrm>
          <a:prstGeom prst="roundRect">
            <a:avLst>
              <a:gd name="adj" fmla="val 22857"/>
            </a:avLst>
          </a:prstGeom>
          <a:solidFill>
            <a:srgbClr val="8B6FA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956816"/>
            <a:ext cx="1353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2542032"/>
            <a:ext cx="1353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Kakao Book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연동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13533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호출로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데이터 조회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84832" y="1463040"/>
            <a:ext cx="1536192" cy="340156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76272" y="1572768"/>
            <a:ext cx="1353312" cy="320040"/>
          </a:xfrm>
          <a:prstGeom prst="roundRect">
            <a:avLst>
              <a:gd name="adj" fmla="val 22857"/>
            </a:avLst>
          </a:prstGeom>
          <a:solidFill>
            <a:srgbClr val="5E4585"/>
          </a:solidFill>
          <a:ln/>
        </p:spPr>
      </p:sp>
      <p:sp>
        <p:nvSpPr>
          <p:cNvPr id="14" name="Text 12"/>
          <p:cNvSpPr/>
          <p:nvPr/>
        </p:nvSpPr>
        <p:spPr>
          <a:xfrm>
            <a:off x="2176272" y="157276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76272" y="1956816"/>
            <a:ext cx="1353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176272" y="2542032"/>
            <a:ext cx="1353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카드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렌더링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76272" y="3200400"/>
            <a:ext cx="13533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응답을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UI로 동적 생성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58184" y="1463040"/>
            <a:ext cx="1536192" cy="340156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9624" y="1572768"/>
            <a:ext cx="1353312" cy="320040"/>
          </a:xfrm>
          <a:prstGeom prst="roundRect">
            <a:avLst>
              <a:gd name="adj" fmla="val 22857"/>
            </a:avLst>
          </a:prstGeom>
          <a:solidFill>
            <a:srgbClr val="3C1F8A"/>
          </a:solidFill>
          <a:ln/>
        </p:spPr>
      </p:sp>
      <p:sp>
        <p:nvSpPr>
          <p:cNvPr id="20" name="Text 18"/>
          <p:cNvSpPr/>
          <p:nvPr/>
        </p:nvSpPr>
        <p:spPr>
          <a:xfrm>
            <a:off x="3849624" y="157276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49624" y="1956816"/>
            <a:ext cx="1353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849624" y="2542032"/>
            <a:ext cx="1353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예외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&amp; fallback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9624" y="3200400"/>
            <a:ext cx="13533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실패 시 건너뜀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상태 UI 표시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31536" y="1463040"/>
            <a:ext cx="1536192" cy="340156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22976" y="1572768"/>
            <a:ext cx="1353312" cy="320040"/>
          </a:xfrm>
          <a:prstGeom prst="roundRect">
            <a:avLst>
              <a:gd name="adj" fmla="val 22857"/>
            </a:avLst>
          </a:prstGeom>
          <a:solidFill>
            <a:srgbClr val="4DAC27"/>
          </a:solidFill>
          <a:ln/>
        </p:spPr>
      </p:sp>
      <p:sp>
        <p:nvSpPr>
          <p:cNvPr id="26" name="Text 24"/>
          <p:cNvSpPr/>
          <p:nvPr/>
        </p:nvSpPr>
        <p:spPr>
          <a:xfrm>
            <a:off x="5522976" y="157276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22976" y="1956816"/>
            <a:ext cx="1353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522976" y="2542032"/>
            <a:ext cx="1353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기반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화면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22976" y="3200400"/>
            <a:ext cx="13533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main_visual.json으로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배너/콘텐츠 렌더링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04888" y="1463040"/>
            <a:ext cx="1536192" cy="340156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96328" y="1572768"/>
            <a:ext cx="1353312" cy="320040"/>
          </a:xfrm>
          <a:prstGeom prst="roundRect">
            <a:avLst>
              <a:gd name="adj" fmla="val 22857"/>
            </a:avLst>
          </a:prstGeom>
          <a:solidFill>
            <a:srgbClr val="0F766E"/>
          </a:solidFill>
          <a:ln/>
        </p:spPr>
      </p:sp>
      <p:sp>
        <p:nvSpPr>
          <p:cNvPr id="32" name="Text 30"/>
          <p:cNvSpPr/>
          <p:nvPr/>
        </p:nvSpPr>
        <p:spPr>
          <a:xfrm>
            <a:off x="7196328" y="1572768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96328" y="1956816"/>
            <a:ext cx="1353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196328" y="2542032"/>
            <a:ext cx="1353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ISBN 기반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이동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96328" y="3200400"/>
            <a:ext cx="13533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 쿼리스트링으로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페이지 연결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FLOW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검색부터 구매까지의 사용자 흐름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1874520"/>
            <a:ext cx="1508760" cy="1143000"/>
          </a:xfrm>
          <a:prstGeom prst="roundRect">
            <a:avLst>
              <a:gd name="adj" fmla="val 9600"/>
            </a:avLst>
          </a:prstGeom>
          <a:solidFill>
            <a:srgbClr val="8B6FAE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892808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37744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입력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1089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입력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버튼 클릭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20240" y="2450592"/>
            <a:ext cx="173736" cy="0"/>
          </a:xfrm>
          <a:prstGeom prst="line">
            <a:avLst/>
          </a:prstGeom>
          <a:noFill/>
          <a:ln w="25400">
            <a:solidFill>
              <a:srgbClr val="8B6F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93976" y="1874520"/>
            <a:ext cx="1508760" cy="1143000"/>
          </a:xfrm>
          <a:prstGeom prst="roundRect">
            <a:avLst>
              <a:gd name="adj" fmla="val 9600"/>
            </a:avLst>
          </a:prstGeom>
          <a:solidFill>
            <a:srgbClr val="5E4585"/>
          </a:solidFill>
          <a:ln/>
        </p:spPr>
      </p:sp>
      <p:sp>
        <p:nvSpPr>
          <p:cNvPr id="12" name="Text 10"/>
          <p:cNvSpPr/>
          <p:nvPr/>
        </p:nvSpPr>
        <p:spPr>
          <a:xfrm>
            <a:off x="2093976" y="1892808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93976" y="237744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카드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93976" y="31089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응답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UI 렌더링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02736" y="2450592"/>
            <a:ext cx="173736" cy="0"/>
          </a:xfrm>
          <a:prstGeom prst="line">
            <a:avLst/>
          </a:prstGeom>
          <a:noFill/>
          <a:ln w="25400">
            <a:solidFill>
              <a:srgbClr val="8B6F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76472" y="1874520"/>
            <a:ext cx="1508760" cy="1143000"/>
          </a:xfrm>
          <a:prstGeom prst="roundRect">
            <a:avLst>
              <a:gd name="adj" fmla="val 9600"/>
            </a:avLst>
          </a:prstGeom>
          <a:solidFill>
            <a:srgbClr val="3C1F8A"/>
          </a:solidFill>
          <a:ln/>
        </p:spPr>
      </p:sp>
      <p:sp>
        <p:nvSpPr>
          <p:cNvPr id="17" name="Text 15"/>
          <p:cNvSpPr/>
          <p:nvPr/>
        </p:nvSpPr>
        <p:spPr>
          <a:xfrm>
            <a:off x="3776472" y="1892808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76472" y="237744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클릭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76472" y="31089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ISBN 파라미터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URL에 전달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85232" y="2450592"/>
            <a:ext cx="173736" cy="0"/>
          </a:xfrm>
          <a:prstGeom prst="line">
            <a:avLst/>
          </a:prstGeom>
          <a:noFill/>
          <a:ln w="25400">
            <a:solidFill>
              <a:srgbClr val="8B6FA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58968" y="1874520"/>
            <a:ext cx="1508760" cy="1143000"/>
          </a:xfrm>
          <a:prstGeom prst="roundRect">
            <a:avLst>
              <a:gd name="adj" fmla="val 9600"/>
            </a:avLst>
          </a:prstGeom>
          <a:solidFill>
            <a:srgbClr val="8B6FAE"/>
          </a:solidFill>
          <a:ln/>
        </p:spPr>
      </p:sp>
      <p:sp>
        <p:nvSpPr>
          <p:cNvPr id="22" name="Text 20"/>
          <p:cNvSpPr/>
          <p:nvPr/>
        </p:nvSpPr>
        <p:spPr>
          <a:xfrm>
            <a:off x="5458968" y="1892808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58968" y="237744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페이지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58968" y="31089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동적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렌더링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67728" y="2450592"/>
            <a:ext cx="173736" cy="0"/>
          </a:xfrm>
          <a:prstGeom prst="line">
            <a:avLst/>
          </a:prstGeom>
          <a:noFill/>
          <a:ln w="25400">
            <a:solidFill>
              <a:srgbClr val="8B6F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41464" y="1874520"/>
            <a:ext cx="1508760" cy="1143000"/>
          </a:xfrm>
          <a:prstGeom prst="roundRect">
            <a:avLst>
              <a:gd name="adj" fmla="val 9600"/>
            </a:avLst>
          </a:prstGeom>
          <a:solidFill>
            <a:srgbClr val="4DAC27"/>
          </a:solidFill>
          <a:ln/>
        </p:spPr>
      </p:sp>
      <p:sp>
        <p:nvSpPr>
          <p:cNvPr id="27" name="Text 25"/>
          <p:cNvSpPr/>
          <p:nvPr/>
        </p:nvSpPr>
        <p:spPr>
          <a:xfrm>
            <a:off x="7141464" y="1892808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41464" y="237744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구매/장바구니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41464" y="31089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localStorage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처리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480560"/>
            <a:ext cx="8229600" cy="384048"/>
          </a:xfrm>
          <a:prstGeom prst="roundRect">
            <a:avLst>
              <a:gd name="adj" fmla="val 23810"/>
            </a:avLst>
          </a:prstGeom>
          <a:solidFill>
            <a:srgbClr val="EDE9F7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48056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 예외 경로: 단건 조회 실패 → 건너뜀(fallback) / 전체 조회 실패 → 오류 상태 UI(renderErrorState)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STRUCTURE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/ Page Structure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구성 및 정보 구조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840480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572768"/>
            <a:ext cx="3621024" cy="347472"/>
          </a:xfrm>
          <a:prstGeom prst="roundRect">
            <a:avLst>
              <a:gd name="adj" fmla="val 21053"/>
            </a:avLst>
          </a:prstGeom>
          <a:solidFill>
            <a:srgbClr val="8B6FAE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572768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index.html (메인)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" y="2148840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05740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 — 검색창 / GNB / 전체메뉴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" y="2651760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5603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Visual — JSON 기반 메인 배너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" y="3154680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0632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Best Books — 카테고리 탭 + 도서 카드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3232" y="3657600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56616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MD Pick — 추천 도서 섹션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3232" y="4160520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06908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 — 이벤트 배너/기획전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463040"/>
            <a:ext cx="3840480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73168" y="1572768"/>
            <a:ext cx="3621024" cy="347472"/>
          </a:xfrm>
          <a:prstGeom prst="roundRect">
            <a:avLst>
              <a:gd name="adj" fmla="val 21053"/>
            </a:avLst>
          </a:prstGeom>
          <a:solidFill>
            <a:srgbClr val="5E4585"/>
          </a:solidFill>
          <a:ln/>
        </p:spPr>
      </p:sp>
      <p:sp>
        <p:nvSpPr>
          <p:cNvPr id="21" name="Text 19"/>
          <p:cNvSpPr/>
          <p:nvPr/>
        </p:nvSpPr>
        <p:spPr>
          <a:xfrm>
            <a:off x="4773168" y="1572768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sub.html (상세)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19472" y="2148840"/>
            <a:ext cx="182880" cy="182880"/>
          </a:xfrm>
          <a:prstGeom prst="ellipse">
            <a:avLst/>
          </a:prstGeom>
          <a:solidFill>
            <a:srgbClr val="5E4585"/>
          </a:solidFill>
          <a:ln w="12700">
            <a:solidFill>
              <a:srgbClr val="5E45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93792" y="205740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Breadcrumb — 홈 &gt; 분야 경로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19472" y="2651760"/>
            <a:ext cx="182880" cy="182880"/>
          </a:xfrm>
          <a:prstGeom prst="ellipse">
            <a:avLst/>
          </a:prstGeom>
          <a:solidFill>
            <a:srgbClr val="5E4585"/>
          </a:solidFill>
          <a:ln w="12700">
            <a:solidFill>
              <a:srgbClr val="5E45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93792" y="25603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표지 + 상품 정보 카드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19472" y="3154680"/>
            <a:ext cx="182880" cy="182880"/>
          </a:xfrm>
          <a:prstGeom prst="ellipse">
            <a:avLst/>
          </a:prstGeom>
          <a:solidFill>
            <a:srgbClr val="5E4585"/>
          </a:solidFill>
          <a:ln w="12700">
            <a:solidFill>
              <a:srgbClr val="5E45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93792" y="30632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영역 — 수량/버튼/가격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19472" y="3657600"/>
            <a:ext cx="182880" cy="182880"/>
          </a:xfrm>
          <a:prstGeom prst="ellipse">
            <a:avLst/>
          </a:prstGeom>
          <a:solidFill>
            <a:srgbClr val="5E4585"/>
          </a:solidFill>
          <a:ln w="12700">
            <a:solidFill>
              <a:srgbClr val="5E458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93792" y="356616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섹션 — 상세/리뷰/교환반품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19472" y="4160520"/>
            <a:ext cx="182880" cy="182880"/>
          </a:xfrm>
          <a:prstGeom prst="ellipse">
            <a:avLst/>
          </a:prstGeom>
          <a:solidFill>
            <a:srgbClr val="5E4585"/>
          </a:solidFill>
          <a:ln w="12700">
            <a:solidFill>
              <a:srgbClr val="5E45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93792" y="406908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고정 구매바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FOLDER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Folder Structure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파일 및 폴더 역할 정리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069080" cy="3401568"/>
          </a:xfrm>
          <a:prstGeom prst="roundRect">
            <a:avLst>
              <a:gd name="adj" fmla="val 2688"/>
            </a:avLst>
          </a:prstGeom>
          <a:solidFill>
            <a:srgbClr val="1A103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72768"/>
            <a:ext cx="3794760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0331_01/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sub.html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css/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reset.css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common.css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layout.css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main.css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sub.css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js/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main_visual.js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main_books.js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header.js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sub.js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json/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main_visual.json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mdpick.json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sub.json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fragments/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header.html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footer.html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...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img/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09160" y="1463040"/>
            <a:ext cx="39776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28032" y="1463040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4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37960" y="1463040"/>
            <a:ext cx="20848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reset / common / layout / main / sub 스타일 분리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938528"/>
            <a:ext cx="39776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28032" y="1938528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4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main_visual.js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37960" y="1938528"/>
            <a:ext cx="20848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배너 + Kakao API 렌더링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2414016"/>
            <a:ext cx="39776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28032" y="2414016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4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main_books.js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37960" y="2414016"/>
            <a:ext cx="20848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리스트 API </a:t>
            </a:r>
            <a:r>
              <a:rPr lang="en-US" sz="95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</a:t>
            </a:r>
            <a:r>
              <a:rPr lang="en-US" sz="95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</a:t>
            </a: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렌더링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889504"/>
            <a:ext cx="39776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28032" y="2889504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4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header.js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37960" y="2889504"/>
            <a:ext cx="20848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 / 전체 메뉴 인터랙션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3364992"/>
            <a:ext cx="39776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28032" y="3364992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4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sub.js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37960" y="3364992"/>
            <a:ext cx="20848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페이지 / 구매 UX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3840480"/>
            <a:ext cx="39776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28032" y="3840480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4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json/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3840480"/>
            <a:ext cx="20848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main_visual / mdpick / sub 정적 데이터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4315968"/>
            <a:ext cx="39776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7" name="Text 25"/>
          <p:cNvSpPr/>
          <p:nvPr/>
        </p:nvSpPr>
        <p:spPr>
          <a:xfrm>
            <a:off x="4828032" y="4315968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4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fragments/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37960" y="4315968"/>
            <a:ext cx="20848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 /footer 등 </a:t>
            </a:r>
            <a:r>
              <a:rPr lang="en-US" sz="95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HTML </a:t>
            </a:r>
            <a:r>
              <a:rPr lang="en-US" sz="95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조각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MAIN PAGE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Page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페이지 전체 구성 및 주요 섹션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114800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82496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5E458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8249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783080" y="1645920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검색창, GNB, 로그인, 전체메뉴 버튼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276856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768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비주얼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83080" y="2240280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기반 메인 배너 이미지 슬라이드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5E458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베스트 도서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83080" y="2834640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탭 + 도서 카드 리스트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65576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655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MD Pick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83080" y="3429000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에디터 추천 도서 섹션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059936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5E458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5993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83080" y="4023360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배너 및 기획전 링크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1463040"/>
            <a:ext cx="3931920" cy="3401568"/>
          </a:xfrm>
          <a:prstGeom prst="roundRect">
            <a:avLst>
              <a:gd name="adj" fmla="val 3226"/>
            </a:avLst>
          </a:prstGeom>
          <a:solidFill>
            <a:srgbClr val="EDE9F7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19472" y="1627632"/>
            <a:ext cx="3602736" cy="329184"/>
          </a:xfrm>
          <a:prstGeom prst="roundRect">
            <a:avLst>
              <a:gd name="adj" fmla="val 22222"/>
            </a:avLst>
          </a:prstGeom>
          <a:solidFill>
            <a:srgbClr val="5E4585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1627632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🏗️  구현 포인트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56048" y="2176272"/>
            <a:ext cx="201168" cy="201168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208483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 / GNB / Search 구조 분리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56048" y="2706624"/>
            <a:ext cx="201168" cy="201168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2615184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기반 메인 배너 동적 렌더링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56048" y="3236976"/>
            <a:ext cx="201168" cy="201168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3145536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섹션별 카드 UI 구성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56048" y="3767328"/>
            <a:ext cx="201168" cy="201168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367588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메뉴 사이드 패널 인터랙션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56048" y="4297680"/>
            <a:ext cx="201168" cy="201168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57800" y="420624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베스트 카테고리 탭 전환 구현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210312"/>
            <a:ext cx="150876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 1"/>
          <p:cNvSpPr/>
          <p:nvPr/>
        </p:nvSpPr>
        <p:spPr>
          <a:xfrm>
            <a:off x="7178040" y="2011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Page Screenshot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Page — 전체 화면</a:t>
            </a:r>
            <a:endParaRPr lang="en-US" sz="1400" dirty="0"/>
          </a:p>
        </p:txBody>
      </p:sp>
      <p:pic>
        <p:nvPicPr>
          <p:cNvPr id="5" name="Image 0" descr="/mnt/user-data/uploads/캡처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566928"/>
            <a:ext cx="8229600" cy="41879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846320"/>
            <a:ext cx="8229600" cy="182880"/>
          </a:xfrm>
          <a:prstGeom prst="roundRect">
            <a:avLst>
              <a:gd name="adj" fmla="val 30000"/>
            </a:avLst>
          </a:prstGeom>
          <a:solidFill>
            <a:srgbClr val="EDE9F7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83717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페이지: 헤더 / 검색창 / 메인 배너 / 퀵메뉴 구성을 확인할 수 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HEADER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 &amp; Search Area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 구조, 검색창, GNB 및 전체 메뉴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206240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64208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5E458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642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 영역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0" y="1627632"/>
            <a:ext cx="2715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교보문고 로고 + 홈 링크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58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UI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2221992"/>
            <a:ext cx="2715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통합검색 input + 검색 버튼 UI 구성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852928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5E458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529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28800" y="2816352"/>
            <a:ext cx="2715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메뉴 탭 (베스트, 신상품, 이벤트 등)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47288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472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메뉴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28800" y="3410712"/>
            <a:ext cx="2715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클릭 시 사이드 패널 슬라이드 인/아웃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041648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5E458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41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메뉴 닫기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28800" y="4005072"/>
            <a:ext cx="2715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패널 외부 영역 클릭 또는 X 버튼으로 닫기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1463040"/>
            <a:ext cx="3840480" cy="1719072"/>
          </a:xfrm>
          <a:prstGeom prst="roundRect">
            <a:avLst>
              <a:gd name="adj" fmla="val 6383"/>
            </a:avLst>
          </a:prstGeom>
          <a:solidFill>
            <a:srgbClr val="EDE9F7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10912" y="1627632"/>
            <a:ext cx="3511296" cy="329184"/>
          </a:xfrm>
          <a:prstGeom prst="roundRect">
            <a:avLst>
              <a:gd name="adj" fmla="val 22222"/>
            </a:avLst>
          </a:prstGeom>
          <a:solidFill>
            <a:srgbClr val="5E4585"/>
          </a:solidFill>
          <a:ln/>
        </p:spPr>
      </p:sp>
      <p:sp>
        <p:nvSpPr>
          <p:cNvPr id="24" name="Text 22"/>
          <p:cNvSpPr/>
          <p:nvPr/>
        </p:nvSpPr>
        <p:spPr>
          <a:xfrm>
            <a:off x="5010912" y="1627632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🗂️  Interaction Point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47488" y="2176272"/>
            <a:ext cx="201168" cy="201168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2084832"/>
            <a:ext cx="320040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헤더에 검색 UI와 GNB 메뉴 구성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47488" y="2499360"/>
            <a:ext cx="201168" cy="201168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2407920"/>
            <a:ext cx="320040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메뉴 버튼 클릭 시 사이드 패널 오픈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47488" y="2822448"/>
            <a:ext cx="201168" cy="201168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9240" y="2731008"/>
            <a:ext cx="320040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패널 외부 클릭 / X 버튼으로 닫기 처리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3273552"/>
            <a:ext cx="3840480" cy="1591056"/>
          </a:xfrm>
          <a:prstGeom prst="roundRect">
            <a:avLst>
              <a:gd name="adj" fmla="val 5747"/>
            </a:avLst>
          </a:prstGeom>
          <a:solidFill>
            <a:srgbClr val="1A1035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33832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header.js — 전체 메뉴 토글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menuBtn = qs('.menu-btn');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sideMenu = qs('.side-menu');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overlay = qs('.menu-overlay');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menuBtn.addEventListener('click', openMenu);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외부 영역 클릭 시 닫기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A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overlay.addEventListener('click', closeMenu);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201168"/>
            <a:ext cx="150876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7178040" y="2011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Side Menu Screenshot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 — 전체 메뉴 사이드 패널</a:t>
            </a:r>
            <a:endParaRPr lang="en-US" sz="1400" dirty="0"/>
          </a:p>
        </p:txBody>
      </p:sp>
      <p:pic>
        <p:nvPicPr>
          <p:cNvPr id="5" name="Image 0" descr="/mnt/user-data/uploads/캡처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566928"/>
            <a:ext cx="8229600" cy="41879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846320"/>
            <a:ext cx="8229600" cy="182880"/>
          </a:xfrm>
          <a:prstGeom prst="roundRect">
            <a:avLst>
              <a:gd name="adj" fmla="val 30000"/>
            </a:avLst>
          </a:prstGeom>
          <a:solidFill>
            <a:srgbClr val="EDE9F7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83717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메뉴 버튼 클릭 시 카테고리 패널이 슬라이드 인/아웃 방식으로 열립니다.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API SEARCH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Kakao Book API Search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도서명 기반으로 Kakao Book API를 조회해 카드 / 상세에 렌더링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517904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5179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제공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55648" y="146304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Kakao Developers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901952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901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엔드포인트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55648" y="184708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dapi.kakao.com/v3/search/book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231136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2286000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2860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Method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55648" y="223113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615184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" y="2670048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26700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55648" y="2615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KakaoAK {REST_API_KEY}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999232"/>
            <a:ext cx="411480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" y="3054096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30540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파라미터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55648" y="299923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(도서명), target, size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383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fetchBooks() 구현 코드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609975"/>
            <a:ext cx="4114800" cy="1492377"/>
          </a:xfrm>
          <a:prstGeom prst="roundRect">
            <a:avLst>
              <a:gd name="adj" fmla="val 6579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</p:sp>
      <p:sp>
        <p:nvSpPr>
          <p:cNvPr id="29" name="Text 27"/>
          <p:cNvSpPr/>
          <p:nvPr/>
        </p:nvSpPr>
        <p:spPr>
          <a:xfrm>
            <a:off x="4754880" y="1463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응답 필드 (documents[])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1828800"/>
            <a:ext cx="393192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64608" y="1883664"/>
            <a:ext cx="1417320" cy="228600"/>
          </a:xfrm>
          <a:prstGeom prst="roundRect">
            <a:avLst>
              <a:gd name="adj" fmla="val 24000"/>
            </a:avLst>
          </a:prstGeom>
          <a:solidFill>
            <a:srgbClr val="8B6FAE"/>
          </a:solidFill>
          <a:ln/>
        </p:spPr>
      </p:sp>
      <p:sp>
        <p:nvSpPr>
          <p:cNvPr id="32" name="Text 30"/>
          <p:cNvSpPr/>
          <p:nvPr/>
        </p:nvSpPr>
        <p:spPr>
          <a:xfrm>
            <a:off x="4864608" y="188366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55080" y="1828800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제목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2231136"/>
            <a:ext cx="393192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64608" y="2286000"/>
            <a:ext cx="1417320" cy="228600"/>
          </a:xfrm>
          <a:prstGeom prst="roundRect">
            <a:avLst>
              <a:gd name="adj" fmla="val 24000"/>
            </a:avLst>
          </a:prstGeom>
          <a:solidFill>
            <a:srgbClr val="8B6FAE"/>
          </a:solidFill>
          <a:ln/>
        </p:spPr>
      </p:sp>
      <p:sp>
        <p:nvSpPr>
          <p:cNvPr id="36" name="Text 34"/>
          <p:cNvSpPr/>
          <p:nvPr/>
        </p:nvSpPr>
        <p:spPr>
          <a:xfrm>
            <a:off x="4864608" y="22860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authors[]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55080" y="223113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저자 배열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2633472"/>
            <a:ext cx="393192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64608" y="2688336"/>
            <a:ext cx="1417320" cy="228600"/>
          </a:xfrm>
          <a:prstGeom prst="roundRect">
            <a:avLst>
              <a:gd name="adj" fmla="val 24000"/>
            </a:avLst>
          </a:prstGeom>
          <a:solidFill>
            <a:srgbClr val="8B6FAE"/>
          </a:solidFill>
          <a:ln/>
        </p:spPr>
      </p:sp>
      <p:sp>
        <p:nvSpPr>
          <p:cNvPr id="40" name="Text 38"/>
          <p:cNvSpPr/>
          <p:nvPr/>
        </p:nvSpPr>
        <p:spPr>
          <a:xfrm>
            <a:off x="4864608" y="268833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publisher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55080" y="2633472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출판사명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54880" y="3035808"/>
            <a:ext cx="393192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64608" y="3090672"/>
            <a:ext cx="1417320" cy="228600"/>
          </a:xfrm>
          <a:prstGeom prst="roundRect">
            <a:avLst>
              <a:gd name="adj" fmla="val 24000"/>
            </a:avLst>
          </a:prstGeom>
          <a:solidFill>
            <a:srgbClr val="8B6FAE"/>
          </a:solidFill>
          <a:ln/>
        </p:spPr>
      </p:sp>
      <p:sp>
        <p:nvSpPr>
          <p:cNvPr id="44" name="Text 42"/>
          <p:cNvSpPr/>
          <p:nvPr/>
        </p:nvSpPr>
        <p:spPr>
          <a:xfrm>
            <a:off x="4864608" y="30906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thumbnail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55080" y="3035808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표지 이미지 URL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754880" y="3438144"/>
            <a:ext cx="393192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64608" y="3493008"/>
            <a:ext cx="1417320" cy="228600"/>
          </a:xfrm>
          <a:prstGeom prst="roundRect">
            <a:avLst>
              <a:gd name="adj" fmla="val 24000"/>
            </a:avLst>
          </a:prstGeom>
          <a:solidFill>
            <a:srgbClr val="8B6FAE"/>
          </a:solidFill>
          <a:ln/>
        </p:spPr>
      </p:sp>
      <p:sp>
        <p:nvSpPr>
          <p:cNvPr id="48" name="Text 46"/>
          <p:cNvSpPr/>
          <p:nvPr/>
        </p:nvSpPr>
        <p:spPr>
          <a:xfrm>
            <a:off x="4864608" y="34930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isbn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355080" y="3438144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ISBN 식별자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754880" y="3840480"/>
            <a:ext cx="393192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864608" y="3895344"/>
            <a:ext cx="1417320" cy="228600"/>
          </a:xfrm>
          <a:prstGeom prst="roundRect">
            <a:avLst>
              <a:gd name="adj" fmla="val 24000"/>
            </a:avLst>
          </a:prstGeom>
          <a:solidFill>
            <a:srgbClr val="8B6FAE"/>
          </a:solidFill>
          <a:ln/>
        </p:spPr>
      </p:sp>
      <p:sp>
        <p:nvSpPr>
          <p:cNvPr id="52" name="Text 50"/>
          <p:cNvSpPr/>
          <p:nvPr/>
        </p:nvSpPr>
        <p:spPr>
          <a:xfrm>
            <a:off x="4864608" y="389534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355080" y="3840480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정가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754880" y="4242816"/>
            <a:ext cx="393192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864608" y="4297680"/>
            <a:ext cx="1417320" cy="228600"/>
          </a:xfrm>
          <a:prstGeom prst="roundRect">
            <a:avLst>
              <a:gd name="adj" fmla="val 24000"/>
            </a:avLst>
          </a:prstGeom>
          <a:solidFill>
            <a:srgbClr val="8B6FAE"/>
          </a:solidFill>
          <a:ln/>
        </p:spPr>
      </p:sp>
      <p:sp>
        <p:nvSpPr>
          <p:cNvPr id="56" name="Text 54"/>
          <p:cNvSpPr/>
          <p:nvPr/>
        </p:nvSpPr>
        <p:spPr>
          <a:xfrm>
            <a:off x="4864608" y="42976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sale_price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355080" y="424281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판매가 (-1 = 할인없음)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754880" y="4645152"/>
            <a:ext cx="393192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864608" y="4700016"/>
            <a:ext cx="1417320" cy="228600"/>
          </a:xfrm>
          <a:prstGeom prst="roundRect">
            <a:avLst>
              <a:gd name="adj" fmla="val 24000"/>
            </a:avLst>
          </a:prstGeom>
          <a:solidFill>
            <a:srgbClr val="8B6FAE"/>
          </a:solidFill>
          <a:ln/>
        </p:spPr>
      </p:sp>
      <p:sp>
        <p:nvSpPr>
          <p:cNvPr id="60" name="Text 58"/>
          <p:cNvSpPr/>
          <p:nvPr/>
        </p:nvSpPr>
        <p:spPr>
          <a:xfrm>
            <a:off x="4864608" y="470001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355080" y="4645152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소개 요약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CARD RENDER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Result Card Rendering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응답 데이터를 도서 카드 UI로 동적 생성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846320" cy="3566160"/>
          </a:xfrm>
          <a:prstGeom prst="roundRect">
            <a:avLst>
              <a:gd name="adj" fmla="val 2688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0" y="1463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UI 구성 요소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1828800"/>
            <a:ext cx="3200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96128" y="1901952"/>
            <a:ext cx="1371600" cy="228600"/>
          </a:xfrm>
          <a:prstGeom prst="roundRect">
            <a:avLst>
              <a:gd name="adj" fmla="val 24000"/>
            </a:avLst>
          </a:prstGeom>
          <a:solidFill>
            <a:srgbClr val="5E4585"/>
          </a:solidFill>
          <a:ln/>
        </p:spPr>
      </p:sp>
      <p:sp>
        <p:nvSpPr>
          <p:cNvPr id="11" name="Text 9"/>
          <p:cNvSpPr/>
          <p:nvPr/>
        </p:nvSpPr>
        <p:spPr>
          <a:xfrm>
            <a:off x="5596128" y="19019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img.book-thumb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96128" y="2157984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thumbnail URL → 책 표지 이미지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2487168"/>
            <a:ext cx="3200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596128" y="2560320"/>
            <a:ext cx="1371600" cy="228600"/>
          </a:xfrm>
          <a:prstGeom prst="roundRect">
            <a:avLst>
              <a:gd name="adj" fmla="val 24000"/>
            </a:avLst>
          </a:prstGeom>
          <a:solidFill>
            <a:srgbClr val="5E4585"/>
          </a:solidFill>
          <a:ln/>
        </p:spPr>
      </p:sp>
      <p:sp>
        <p:nvSpPr>
          <p:cNvPr id="15" name="Text 13"/>
          <p:cNvSpPr/>
          <p:nvPr/>
        </p:nvSpPr>
        <p:spPr>
          <a:xfrm>
            <a:off x="5596128" y="2560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p.title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96128" y="2816352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title → 도서 제목 (2줄 말줄임)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0" y="3145536"/>
            <a:ext cx="3200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96128" y="3218688"/>
            <a:ext cx="1371600" cy="228600"/>
          </a:xfrm>
          <a:prstGeom prst="roundRect">
            <a:avLst>
              <a:gd name="adj" fmla="val 24000"/>
            </a:avLst>
          </a:prstGeom>
          <a:solidFill>
            <a:srgbClr val="5E4585"/>
          </a:solidFill>
          <a:ln/>
        </p:spPr>
      </p:sp>
      <p:sp>
        <p:nvSpPr>
          <p:cNvPr id="19" name="Text 17"/>
          <p:cNvSpPr/>
          <p:nvPr/>
        </p:nvSpPr>
        <p:spPr>
          <a:xfrm>
            <a:off x="5596128" y="32186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p.author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96128" y="3474720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authors[] → join으로 저자 표시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3803904"/>
            <a:ext cx="3200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96128" y="3877056"/>
            <a:ext cx="1371600" cy="228600"/>
          </a:xfrm>
          <a:prstGeom prst="roundRect">
            <a:avLst>
              <a:gd name="adj" fmla="val 24000"/>
            </a:avLst>
          </a:prstGeom>
          <a:solidFill>
            <a:srgbClr val="5E4585"/>
          </a:solidFill>
          <a:ln/>
        </p:spPr>
      </p:sp>
      <p:sp>
        <p:nvSpPr>
          <p:cNvPr id="23" name="Text 21"/>
          <p:cNvSpPr/>
          <p:nvPr/>
        </p:nvSpPr>
        <p:spPr>
          <a:xfrm>
            <a:off x="5596128" y="38770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p.price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96128" y="4133088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sale_price 또는 price (fallback)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4462272"/>
            <a:ext cx="3200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96128" y="4535424"/>
            <a:ext cx="1371600" cy="228600"/>
          </a:xfrm>
          <a:prstGeom prst="roundRect">
            <a:avLst>
              <a:gd name="adj" fmla="val 24000"/>
            </a:avLst>
          </a:prstGeom>
          <a:solidFill>
            <a:srgbClr val="5E4585"/>
          </a:solidFill>
          <a:ln/>
        </p:spPr>
      </p:sp>
      <p:sp>
        <p:nvSpPr>
          <p:cNvPr id="27" name="Text 25"/>
          <p:cNvSpPr/>
          <p:nvPr/>
        </p:nvSpPr>
        <p:spPr>
          <a:xfrm>
            <a:off x="5596128" y="453542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클릭 이벤트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96128" y="4791456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item.isbn → ./sub.html 이동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ERROR HANDLING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Event &amp; Error Handling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조회 실패 / fallback / 오류 상태 UI 처리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7004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08760"/>
            <a:ext cx="2670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2487168" cy="274320"/>
          </a:xfrm>
          <a:prstGeom prst="roundRect">
            <a:avLst>
              <a:gd name="adj" fmla="val 23333"/>
            </a:avLst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031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조회 실패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32304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renderErrorState() 호출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1463040"/>
            <a:ext cx="267004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508760"/>
            <a:ext cx="2670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↪️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429000" y="2103120"/>
            <a:ext cx="2487168" cy="274320"/>
          </a:xfrm>
          <a:prstGeom prst="roundRect">
            <a:avLst>
              <a:gd name="adj" fmla="val 23333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21031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단건 조회 실패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432304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항목 건너뜀 (fallback)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463040"/>
            <a:ext cx="267004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508760"/>
            <a:ext cx="2670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📭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309360" y="2103120"/>
            <a:ext cx="2487168" cy="274320"/>
          </a:xfrm>
          <a:prstGeom prst="roundRect">
            <a:avLst>
              <a:gd name="adj" fmla="val 23333"/>
            </a:avLst>
          </a:prstGeom>
          <a:solidFill>
            <a:srgbClr val="8B6FAE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10312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결과 0건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432304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상태 화면 표시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조회 + fallback 처리 코드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369956" y="3246120"/>
            <a:ext cx="6605256" cy="1737360"/>
          </a:xfrm>
          <a:prstGeom prst="roundRect">
            <a:avLst>
              <a:gd name="adj" fmla="val 5263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201168"/>
            <a:ext cx="150876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7178040" y="2011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State Screenshot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State — 도서 정보 로드 실패</a:t>
            </a:r>
            <a:endParaRPr lang="en-US" sz="1400" dirty="0"/>
          </a:p>
        </p:txBody>
      </p:sp>
      <p:pic>
        <p:nvPicPr>
          <p:cNvPr id="5" name="Image 0" descr="/mnt/user-data/uploads/캡처1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566928"/>
            <a:ext cx="8229600" cy="41879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846320"/>
            <a:ext cx="8229600" cy="182880"/>
          </a:xfrm>
          <a:prstGeom prst="roundRect">
            <a:avLst>
              <a:gd name="adj" fmla="val 30000"/>
            </a:avLst>
          </a:prstGeom>
          <a:solidFill>
            <a:srgbClr val="EDE9F7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83717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ISBN 조회 실패 시 "도서 정보를 불러오지 못했습니다" 오류 메시지와 기본 상태 UI를 제공합니다.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760363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JSON RENDER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Visual JSON Rendering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main_visual.json 기반 메인 배너/콘텐츠 동적 렌더링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4DAC2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361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main_visual.json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0" y="1938528"/>
            <a:ext cx="320040" cy="0"/>
          </a:xfrm>
          <a:prstGeom prst="line">
            <a:avLst/>
          </a:prstGeom>
          <a:noFill/>
          <a:ln w="25400">
            <a:solidFill>
              <a:srgbClr val="8B6F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50876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8B6FAE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5361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0604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loadMainVisualDate</a:t>
            </a: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34840" y="1938528"/>
            <a:ext cx="320040" cy="0"/>
          </a:xfrm>
          <a:prstGeom prst="line">
            <a:avLst/>
          </a:prstGeom>
          <a:noFill/>
          <a:ln w="25400">
            <a:solidFill>
              <a:srgbClr val="8B6F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50876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5E4585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5361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5488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가공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0" y="1938528"/>
            <a:ext cx="320040" cy="0"/>
          </a:xfrm>
          <a:prstGeom prst="line">
            <a:avLst/>
          </a:prstGeom>
          <a:noFill/>
          <a:ln w="25400">
            <a:solidFill>
              <a:srgbClr val="8B6F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150876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3C1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15361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🖼️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0372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DOM 렌더링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94860" y="2696041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r>
              <a:rPr lang="en-US" sz="12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</a:t>
            </a:r>
            <a:r>
              <a:rPr lang="en-US" sz="12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3017519"/>
            <a:ext cx="4023360" cy="1729141"/>
          </a:xfrm>
          <a:prstGeom prst="roundRect">
            <a:avLst>
              <a:gd name="adj" fmla="val 6061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AF4444F2-74CB-4922-A13C-6417A99F55A5}"/>
              </a:ext>
            </a:extLst>
          </p:cNvPr>
          <p:cNvSpPr/>
          <p:nvPr/>
        </p:nvSpPr>
        <p:spPr>
          <a:xfrm>
            <a:off x="488279" y="26471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r>
              <a:rPr lang="en-US" sz="12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</a:t>
            </a:r>
            <a:r>
              <a:rPr lang="en-US" sz="12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243D430E-863E-46DA-8031-43E348D3665E}"/>
              </a:ext>
            </a:extLst>
          </p:cNvPr>
          <p:cNvSpPr/>
          <p:nvPr/>
        </p:nvSpPr>
        <p:spPr>
          <a:xfrm>
            <a:off x="457200" y="3017520"/>
            <a:ext cx="3863340" cy="172914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5A8AAD1B-432D-4C52-900F-BC91D77A29F5}"/>
              </a:ext>
            </a:extLst>
          </p:cNvPr>
          <p:cNvSpPr/>
          <p:nvPr/>
        </p:nvSpPr>
        <p:spPr>
          <a:xfrm>
            <a:off x="868680" y="3420677"/>
            <a:ext cx="3451860" cy="8532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</a:t>
            </a:r>
            <a:r>
              <a:rPr lang="ko-KR" alt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배너 콘텐츠 분리 관리 </a:t>
            </a:r>
            <a:endParaRPr lang="en-US" altLang="ko-KR" sz="1100" dirty="0">
              <a:solidFill>
                <a:srgbClr val="2A2A25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ko-KR" altLang="en-US" sz="1100" dirty="0">
              <a:solidFill>
                <a:srgbClr val="2A2A25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altLang="ko-KR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fetch()</a:t>
            </a:r>
            <a:r>
              <a:rPr lang="ko-KR" alt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r>
              <a:rPr lang="en-US" altLang="ko-KR" sz="1100" dirty="0" err="1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main_visual.json</a:t>
            </a:r>
            <a:r>
              <a:rPr lang="en-US" altLang="ko-KR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</a:t>
            </a:r>
            <a:endParaRPr lang="en-US" altLang="ko-KR" sz="1100" dirty="0">
              <a:solidFill>
                <a:srgbClr val="2A2A25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ko-KR" altLang="en-US" sz="1100" dirty="0">
              <a:solidFill>
                <a:srgbClr val="2A2A25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alt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받아온 데이터를 </a:t>
            </a:r>
            <a:r>
              <a:rPr lang="en-US" altLang="ko-KR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</a:t>
            </a:r>
            <a:r>
              <a:rPr lang="ko-KR" alt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영역별 </a:t>
            </a:r>
            <a:r>
              <a:rPr lang="ko-KR" altLang="en-US" sz="1100" dirty="0" err="1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렌더</a:t>
            </a:r>
            <a:r>
              <a:rPr lang="ko-KR" alt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함수에 전달</a:t>
            </a:r>
            <a:endParaRPr lang="en-US" sz="1100" dirty="0"/>
          </a:p>
        </p:txBody>
      </p:sp>
      <p:sp>
        <p:nvSpPr>
          <p:cNvPr id="31" name="Shape 20">
            <a:extLst>
              <a:ext uri="{FF2B5EF4-FFF2-40B4-BE49-F238E27FC236}">
                <a16:creationId xmlns:a16="http://schemas.microsoft.com/office/drawing/2014/main" id="{DD173634-C542-4147-BFF1-A8FDDE05CA10}"/>
              </a:ext>
            </a:extLst>
          </p:cNvPr>
          <p:cNvSpPr/>
          <p:nvPr/>
        </p:nvSpPr>
        <p:spPr>
          <a:xfrm>
            <a:off x="667512" y="3388982"/>
            <a:ext cx="201168" cy="201168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32" name="Shape 20">
            <a:extLst>
              <a:ext uri="{FF2B5EF4-FFF2-40B4-BE49-F238E27FC236}">
                <a16:creationId xmlns:a16="http://schemas.microsoft.com/office/drawing/2014/main" id="{729D7B64-7A77-4880-8772-E80055E88F11}"/>
              </a:ext>
            </a:extLst>
          </p:cNvPr>
          <p:cNvSpPr/>
          <p:nvPr/>
        </p:nvSpPr>
        <p:spPr>
          <a:xfrm>
            <a:off x="667512" y="3746727"/>
            <a:ext cx="201168" cy="201168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33" name="Shape 20">
            <a:extLst>
              <a:ext uri="{FF2B5EF4-FFF2-40B4-BE49-F238E27FC236}">
                <a16:creationId xmlns:a16="http://schemas.microsoft.com/office/drawing/2014/main" id="{897D6F03-778E-4B9C-8E05-3BB5D7973AB1}"/>
              </a:ext>
            </a:extLst>
          </p:cNvPr>
          <p:cNvSpPr/>
          <p:nvPr/>
        </p:nvSpPr>
        <p:spPr>
          <a:xfrm>
            <a:off x="667512" y="4104472"/>
            <a:ext cx="201168" cy="201168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MAIN CONTENT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Content Sections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베스트, MD Pick, 이벤트 등 메인 콘텐츠 구성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70048" cy="3401568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72768"/>
            <a:ext cx="2487168" cy="347472"/>
          </a:xfrm>
          <a:prstGeom prst="roundRect">
            <a:avLst>
              <a:gd name="adj" fmla="val 21053"/>
            </a:avLst>
          </a:prstGeom>
          <a:solidFill>
            <a:srgbClr val="5E458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🏆 Best Books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2148840"/>
            <a:ext cx="182880" cy="182880"/>
          </a:xfrm>
          <a:prstGeom prst="ellipse">
            <a:avLst/>
          </a:prstGeom>
          <a:solidFill>
            <a:srgbClr val="5E4585"/>
          </a:solidFill>
          <a:ln w="12700">
            <a:solidFill>
              <a:srgbClr val="5E45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05740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탭 전환 (국내/외국/eBook...)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2898648"/>
            <a:ext cx="182880" cy="182880"/>
          </a:xfrm>
          <a:prstGeom prst="ellipse">
            <a:avLst/>
          </a:prstGeom>
          <a:solidFill>
            <a:srgbClr val="5E4585"/>
          </a:solidFill>
          <a:ln w="12700">
            <a:solidFill>
              <a:srgbClr val="5E45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80720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응답 기반 도서 카드 렌더링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3648456"/>
            <a:ext cx="182880" cy="182880"/>
          </a:xfrm>
          <a:prstGeom prst="ellipse">
            <a:avLst/>
          </a:prstGeom>
          <a:solidFill>
            <a:srgbClr val="5E4585"/>
          </a:solidFill>
          <a:ln w="12700">
            <a:solidFill>
              <a:srgbClr val="5E45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557016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클릭 → ISBN 파라미터로 상세 이동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1463040"/>
            <a:ext cx="2670048" cy="3401568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29000" y="1572768"/>
            <a:ext cx="2487168" cy="347472"/>
          </a:xfrm>
          <a:prstGeom prst="roundRect">
            <a:avLst>
              <a:gd name="adj" fmla="val 21053"/>
            </a:avLst>
          </a:prstGeom>
          <a:solidFill>
            <a:srgbClr val="8B6FAE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57276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 MD Pick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38728" y="2148840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13048" y="205740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MD 추천 도서 리스트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38728" y="2898648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13048" y="280720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+ 제목 + 짧은 코멘트 구성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38728" y="3648456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13048" y="3557016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hover 효과로 선택 유도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1463040"/>
            <a:ext cx="2670048" cy="3401568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1572768"/>
            <a:ext cx="2487168" cy="347472"/>
          </a:xfrm>
          <a:prstGeom prst="roundRect">
            <a:avLst>
              <a:gd name="adj" fmla="val 21053"/>
            </a:avLst>
          </a:prstGeom>
          <a:solidFill>
            <a:srgbClr val="4DAC27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157276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🎉 Event / 기획전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19088" y="2148840"/>
            <a:ext cx="182880" cy="182880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93408" y="205740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배너 영역 (JSON 데이터 기반)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19088" y="2898648"/>
            <a:ext cx="182880" cy="182880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93408" y="280720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기획전 링크 카드 구성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19088" y="3648456"/>
            <a:ext cx="182880" cy="182880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93408" y="3557016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계절/특별 이벤트 배너 렌더링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201168"/>
            <a:ext cx="150876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7178040" y="2011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Content Screenshot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Content — 추천 도서 / 출판사 추천</a:t>
            </a:r>
            <a:endParaRPr lang="en-US" sz="1400" dirty="0"/>
          </a:p>
        </p:txBody>
      </p:sp>
      <p:pic>
        <p:nvPicPr>
          <p:cNvPr id="5" name="Image 0" descr="/mnt/user-data/uploads/캡처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566928"/>
            <a:ext cx="3931920" cy="4187952"/>
          </a:xfrm>
          <a:prstGeom prst="rect">
            <a:avLst/>
          </a:prstGeom>
        </p:spPr>
      </p:pic>
      <p:pic>
        <p:nvPicPr>
          <p:cNvPr id="6" name="Image 1" descr="/mnt/user-data/uploads/캡처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6150" y="566928"/>
            <a:ext cx="3930650" cy="418795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846320"/>
            <a:ext cx="8229600" cy="182880"/>
          </a:xfrm>
          <a:prstGeom prst="roundRect">
            <a:avLst>
              <a:gd name="adj" fmla="val 30000"/>
            </a:avLst>
          </a:prstGeom>
          <a:solidFill>
            <a:srgbClr val="EDE9F7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483717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출판사 추천 도서 및 베스트 섹션이 API 데이터 기반으로 동적 렌더링됩니다.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201168"/>
            <a:ext cx="150876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7178040" y="2011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Content Screenshot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Content — 베스트 랭킹 / 이벤트</a:t>
            </a:r>
            <a:endParaRPr lang="en-US" sz="1400" dirty="0"/>
          </a:p>
        </p:txBody>
      </p:sp>
      <p:pic>
        <p:nvPicPr>
          <p:cNvPr id="5" name="Image 0" descr="/mnt/user-data/uploads/캡처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566928"/>
            <a:ext cx="3931920" cy="4187952"/>
          </a:xfrm>
          <a:prstGeom prst="rect">
            <a:avLst/>
          </a:prstGeom>
        </p:spPr>
      </p:pic>
      <p:pic>
        <p:nvPicPr>
          <p:cNvPr id="6" name="Image 1" descr="/mnt/user-data/uploads/캡처5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566928"/>
            <a:ext cx="3931920" cy="418795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846320"/>
            <a:ext cx="8229600" cy="182880"/>
          </a:xfrm>
          <a:prstGeom prst="roundRect">
            <a:avLst>
              <a:gd name="adj" fmla="val 30000"/>
            </a:avLst>
          </a:prstGeom>
          <a:solidFill>
            <a:srgbClr val="EDE9F7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483717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베스트 도서 순위와 이벤트/교보문고 기획 도서 섹션이 JSON 데이터로 구성됩니다.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INTERACTION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Page Interaction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탭, 슬라이드, 메뉴 열기/닫기, 클릭 이동 인터랙션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11480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572768"/>
            <a:ext cx="3895344" cy="320040"/>
          </a:xfrm>
          <a:prstGeom prst="roundRect">
            <a:avLst>
              <a:gd name="adj" fmla="val 22857"/>
            </a:avLst>
          </a:prstGeom>
          <a:solidFill>
            <a:srgbClr val="8B6FAE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572768"/>
            <a:ext cx="3895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전환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베스트 카테고리 탭 클릭 시 콘텐츠 전환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dataset.category 기반 필터링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28032" y="1463040"/>
            <a:ext cx="411480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572768"/>
            <a:ext cx="3895344" cy="320040"/>
          </a:xfrm>
          <a:prstGeom prst="roundRect">
            <a:avLst>
              <a:gd name="adj" fmla="val 22857"/>
            </a:avLst>
          </a:prstGeom>
          <a:solidFill>
            <a:srgbClr val="5E4585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572768"/>
            <a:ext cx="3895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배너 슬라이드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10912" y="196596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setInterval 기반 자동 슬라이드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인디케이터 클릭으로 수동 이동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82112"/>
            <a:ext cx="411480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291840"/>
            <a:ext cx="3895344" cy="320040"/>
          </a:xfrm>
          <a:prstGeom prst="roundRect">
            <a:avLst>
              <a:gd name="adj" fmla="val 22857"/>
            </a:avLst>
          </a:prstGeom>
          <a:solidFill>
            <a:srgbClr val="3C1F8A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291840"/>
            <a:ext cx="3895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메뉴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68503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translateX CSS transition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overflow:hidden으로 배경 스크롤 방지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28032" y="3182112"/>
            <a:ext cx="411480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3291840"/>
            <a:ext cx="3895344" cy="320040"/>
          </a:xfrm>
          <a:prstGeom prst="roundRect">
            <a:avLst>
              <a:gd name="adj" fmla="val 22857"/>
            </a:avLst>
          </a:prstGeom>
          <a:solidFill>
            <a:srgbClr val="4DAC27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291840"/>
            <a:ext cx="3895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클릭 이동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10912" y="368503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item.isbn → location.href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./sub.html?isbn=... 라우팅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DETAIL PAGE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 Page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페이지 전체 구성 및 정보 구조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206240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6420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5E458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642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브레드크럼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920240" y="162763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&gt; 국내도서 &gt; 분야 경로 표시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16712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67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표지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20240" y="213055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thumbnail 이미지 + 슬라이더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67004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5E458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700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정보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20240" y="263347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제목, 저자, 출판사, ISBN, 가격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17296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729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영역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20240" y="313639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 조절(-/+), 구매 버튼 4종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67588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5E458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75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섹션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920240" y="363931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상세정보 / 리뷰 / 교환반품 전환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178808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78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구매바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920240" y="414223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고정 구매 액션 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463040"/>
            <a:ext cx="3840480" cy="3401568"/>
          </a:xfrm>
          <a:prstGeom prst="roundRect">
            <a:avLst>
              <a:gd name="adj" fmla="val 3226"/>
            </a:avLst>
          </a:prstGeom>
          <a:solidFill>
            <a:srgbClr val="EDE9F7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10912" y="1627632"/>
            <a:ext cx="3511296" cy="329184"/>
          </a:xfrm>
          <a:prstGeom prst="roundRect">
            <a:avLst>
              <a:gd name="adj" fmla="val 22222"/>
            </a:avLst>
          </a:prstGeom>
          <a:solidFill>
            <a:srgbClr val="5E4585"/>
          </a:solidFill>
          <a:ln/>
        </p:spPr>
      </p:sp>
      <p:sp>
        <p:nvSpPr>
          <p:cNvPr id="27" name="Text 25"/>
          <p:cNvSpPr/>
          <p:nvPr/>
        </p:nvSpPr>
        <p:spPr>
          <a:xfrm>
            <a:off x="5010912" y="1627632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 Detail Flow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47488" y="2176272"/>
            <a:ext cx="201168" cy="201168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208483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 쿼리스트링에서 ISBN 추출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47488" y="2706624"/>
            <a:ext cx="201168" cy="201168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261518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Kakao Book API로 상세 데이터 조회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47488" y="3236976"/>
            <a:ext cx="201168" cy="201168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49240" y="3145536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표지 / 가격 / 저자 정보 렌더링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47488" y="3767328"/>
            <a:ext cx="201168" cy="201168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9240" y="367588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상세정보 / 리뷰 / 교환반품 탭 구성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47488" y="4297680"/>
            <a:ext cx="201168" cy="201168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49240" y="420624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고정 구매바 UX 적용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201168"/>
            <a:ext cx="150876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7178040" y="2011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Page Screenshot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 Page — 상세 페이지 전체 화면</a:t>
            </a:r>
            <a:endParaRPr lang="en-US" sz="1400" dirty="0"/>
          </a:p>
        </p:txBody>
      </p:sp>
      <p:pic>
        <p:nvPicPr>
          <p:cNvPr id="5" name="Image 0" descr="/mnt/user-data/uploads/캡처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566928"/>
            <a:ext cx="8229600" cy="41879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846320"/>
            <a:ext cx="8229600" cy="182880"/>
          </a:xfrm>
          <a:prstGeom prst="roundRect">
            <a:avLst>
              <a:gd name="adj" fmla="val 30000"/>
            </a:avLst>
          </a:prstGeom>
          <a:solidFill>
            <a:srgbClr val="EDE9F7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83717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제목, 책 표지, 상품 정보, 구매 카드, 탭 섹션, 하단 고정바가 한 화면에 구성됩니다.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ISBN FLOW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ISBN Based Detail 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 파라미터 기반 상세 페이지 이동 흐름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00507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572768"/>
            <a:ext cx="320040" cy="32004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72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554480"/>
            <a:ext cx="3310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카드 클릭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24128" y="1901952"/>
            <a:ext cx="3310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페이지 도서 카드에서 선택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400507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572768"/>
            <a:ext cx="320040" cy="320040"/>
          </a:xfrm>
          <a:prstGeom prst="ellipse">
            <a:avLst/>
          </a:prstGeom>
          <a:solidFill>
            <a:srgbClr val="5E4585"/>
          </a:solidFill>
          <a:ln w="12700">
            <a:solidFill>
              <a:srgbClr val="5E45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572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30368" y="1554480"/>
            <a:ext cx="3310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ISBN → URL 삽입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30368" y="1901952"/>
            <a:ext cx="3310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location.href = "./sub.html?isbn=..."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633472"/>
            <a:ext cx="400507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743200"/>
            <a:ext cx="320040" cy="320040"/>
          </a:xfrm>
          <a:prstGeom prst="ellipse">
            <a:avLst/>
          </a:prstGeom>
          <a:solidFill>
            <a:srgbClr val="3C1F8A"/>
          </a:solidFill>
          <a:ln w="12700">
            <a:solidFill>
              <a:srgbClr val="3C1F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2724912"/>
            <a:ext cx="3310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getQueryParam("isbn")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24128" y="3072384"/>
            <a:ext cx="3310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URLSearchParams로 ISBN 값 추출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633472"/>
            <a:ext cx="400507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743200"/>
            <a:ext cx="320040" cy="32004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30368" y="2724912"/>
            <a:ext cx="3310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ISBN 검증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230368" y="3072384"/>
            <a:ext cx="3310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없거나 조회 실패 시 renderErrorState()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803904"/>
            <a:ext cx="400507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" y="3913632"/>
            <a:ext cx="320040" cy="320040"/>
          </a:xfrm>
          <a:prstGeom prst="ellipse">
            <a:avLst/>
          </a:prstGeom>
          <a:solidFill>
            <a:srgbClr val="5E4585"/>
          </a:solidFill>
          <a:ln w="12700">
            <a:solidFill>
              <a:srgbClr val="5E458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9136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4128" y="3895344"/>
            <a:ext cx="3310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fetchBookByIsbn(isbn)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24128" y="4242816"/>
            <a:ext cx="3310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target=isbn으로 상세 데이터 조회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3803904"/>
            <a:ext cx="400507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913632"/>
            <a:ext cx="320040" cy="320040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9136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30368" y="3895344"/>
            <a:ext cx="3310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renderBook(book)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230368" y="4242816"/>
            <a:ext cx="3310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제목/저자/가격 등 DOM 렌더링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DATA RENDER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 Data Rendering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제목, 저자, 출판사, 가격, 책소개 동적 렌더링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754880" cy="3401568"/>
          </a:xfrm>
          <a:prstGeom prst="roundRect">
            <a:avLst>
              <a:gd name="adj" fmla="val 2688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</p:sp>
      <p:sp>
        <p:nvSpPr>
          <p:cNvPr id="8" name="Text 6"/>
          <p:cNvSpPr/>
          <p:nvPr/>
        </p:nvSpPr>
        <p:spPr>
          <a:xfrm>
            <a:off x="5394960" y="1463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필드 → DOM 매핑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94960" y="1828800"/>
            <a:ext cx="3291840" cy="338328"/>
          </a:xfrm>
          <a:prstGeom prst="roundRect">
            <a:avLst>
              <a:gd name="adj" fmla="val 32432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0" y="1883664"/>
            <a:ext cx="132588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188366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0" y="1828800"/>
            <a:ext cx="274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D8BBF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68896" y="1828800"/>
            <a:ext cx="140817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DAC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.book-title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94960" y="2231136"/>
            <a:ext cx="3291840" cy="338328"/>
          </a:xfrm>
          <a:prstGeom prst="roundRect">
            <a:avLst>
              <a:gd name="adj" fmla="val 32432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0" y="2286000"/>
            <a:ext cx="132588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228600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thumbnail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0" y="2231136"/>
            <a:ext cx="274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D8BBF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68896" y="2231136"/>
            <a:ext cx="140817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DAC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.book-img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94960" y="2633472"/>
            <a:ext cx="3291840" cy="338328"/>
          </a:xfrm>
          <a:prstGeom prst="roundRect">
            <a:avLst>
              <a:gd name="adj" fmla="val 32432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0" y="2688336"/>
            <a:ext cx="132588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0" y="268833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authors[]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0" y="2633472"/>
            <a:ext cx="274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D8BBF"/>
                </a:solidFill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68896" y="2633472"/>
            <a:ext cx="140817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DAC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.author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94960" y="3035808"/>
            <a:ext cx="3291840" cy="338328"/>
          </a:xfrm>
          <a:prstGeom prst="roundRect">
            <a:avLst>
              <a:gd name="adj" fmla="val 32432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0" y="3090672"/>
            <a:ext cx="132588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0" y="309067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sale_price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58000" y="3035808"/>
            <a:ext cx="274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D8BBF"/>
                </a:solidFill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68896" y="3035808"/>
            <a:ext cx="140817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DAC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.price (fallback: price)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94960" y="3438144"/>
            <a:ext cx="3291840" cy="338328"/>
          </a:xfrm>
          <a:prstGeom prst="roundRect">
            <a:avLst>
              <a:gd name="adj" fmla="val 32432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0" y="3493008"/>
            <a:ext cx="132588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0" y="349300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0" y="3438144"/>
            <a:ext cx="274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D8BBF"/>
                </a:solidFill>
              </a:rPr>
              <a:t>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68896" y="3438144"/>
            <a:ext cx="140817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DAC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.publisher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394960" y="3840480"/>
            <a:ext cx="3291840" cy="338328"/>
          </a:xfrm>
          <a:prstGeom prst="roundRect">
            <a:avLst>
              <a:gd name="adj" fmla="val 32432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0" y="3895344"/>
            <a:ext cx="132588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0" y="389534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58000" y="3840480"/>
            <a:ext cx="274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D8BBF"/>
                </a:solidFill>
              </a:rPr>
              <a:t>→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168896" y="3840480"/>
            <a:ext cx="140817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DAC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.intro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394960" y="4242816"/>
            <a:ext cx="3291840" cy="338328"/>
          </a:xfrm>
          <a:prstGeom prst="roundRect">
            <a:avLst>
              <a:gd name="adj" fmla="val 32432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486400" y="4297680"/>
            <a:ext cx="132588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0" y="42976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isbn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58000" y="4242816"/>
            <a:ext cx="274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D8BBF"/>
                </a:solidFill>
              </a:rPr>
              <a:t>→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168896" y="4242816"/>
            <a:ext cx="140817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DAC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.isbn-val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201168"/>
            <a:ext cx="150876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7178040" y="2011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Page Screenshot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 — 상세정보 탭 / 작가의 다른 책</a:t>
            </a:r>
            <a:endParaRPr lang="en-US" sz="140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566928"/>
            <a:ext cx="3931920" cy="4187952"/>
          </a:xfrm>
          <a:prstGeom prst="rect">
            <a:avLst/>
          </a:prstGeom>
        </p:spPr>
      </p:pic>
      <p:pic>
        <p:nvPicPr>
          <p:cNvPr id="6" name="Image 1" descr="/mnt/user-data/uploads/캡처1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566928"/>
            <a:ext cx="3931920" cy="418795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846320"/>
            <a:ext cx="8229600" cy="182880"/>
          </a:xfrm>
          <a:prstGeom prst="roundRect">
            <a:avLst>
              <a:gd name="adj" fmla="val 30000"/>
            </a:avLst>
          </a:prstGeom>
          <a:solidFill>
            <a:srgbClr val="EDE9F7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483717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섹션(책소개/도서정보) 및 API 기반 "작가의 다른 책" 목록이 동적 렌더링됩니다.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PRODUCT UI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Info UI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표지, 가격, 혜택, 배송 안내, 구매 영역 UI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72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1591056"/>
            <a:ext cx="1847088" cy="292608"/>
          </a:xfrm>
          <a:prstGeom prst="roundRect">
            <a:avLst>
              <a:gd name="adj" fmla="val 21875"/>
            </a:avLst>
          </a:prstGeom>
          <a:solidFill>
            <a:srgbClr val="8B6FAE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59105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표지 &amp; 슬라이더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196596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thumbnail 이미지 출력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앞/뒤면 슬라이드 구현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19272" y="146304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19272" y="1572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005072" y="1591056"/>
            <a:ext cx="1847088" cy="292608"/>
          </a:xfrm>
          <a:prstGeom prst="roundRect">
            <a:avLst>
              <a:gd name="adj" fmla="val 21875"/>
            </a:avLst>
          </a:prstGeom>
          <a:solidFill>
            <a:srgbClr val="5E4585"/>
          </a:solidFill>
          <a:ln/>
        </p:spPr>
      </p:sp>
      <p:sp>
        <p:nvSpPr>
          <p:cNvPr id="14" name="Text 12"/>
          <p:cNvSpPr/>
          <p:nvPr/>
        </p:nvSpPr>
        <p:spPr>
          <a:xfrm>
            <a:off x="4005072" y="159105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가격 정보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196596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정가 / 판매가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적립/혜택 포인트 표시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81344" y="146304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81344" y="1572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🚚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867144" y="1591056"/>
            <a:ext cx="1847088" cy="292608"/>
          </a:xfrm>
          <a:prstGeom prst="roundRect">
            <a:avLst>
              <a:gd name="adj" fmla="val 21875"/>
            </a:avLst>
          </a:prstGeom>
          <a:solidFill>
            <a:srgbClr val="3C1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867144" y="159105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 안내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91072" y="1965960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무료배송 여부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도착일 안내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182112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143000" y="3310128"/>
            <a:ext cx="1847088" cy="292608"/>
          </a:xfrm>
          <a:prstGeom prst="roundRect">
            <a:avLst>
              <a:gd name="adj" fmla="val 21875"/>
            </a:avLst>
          </a:prstGeom>
          <a:solidFill>
            <a:srgbClr val="4DAC27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331012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버튼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3685032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아이콘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 공유 기능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19272" y="3182112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19272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📑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4005072" y="3310128"/>
            <a:ext cx="1847088" cy="292608"/>
          </a:xfrm>
          <a:prstGeom prst="roundRect">
            <a:avLst>
              <a:gd name="adj" fmla="val 21875"/>
            </a:avLst>
          </a:prstGeom>
          <a:solidFill>
            <a:srgbClr val="8B6FAE"/>
          </a:solidFill>
          <a:ln/>
        </p:spPr>
      </p:sp>
      <p:sp>
        <p:nvSpPr>
          <p:cNvPr id="29" name="Text 27"/>
          <p:cNvSpPr/>
          <p:nvPr/>
        </p:nvSpPr>
        <p:spPr>
          <a:xfrm>
            <a:off x="4005072" y="331012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네비게이션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29000" y="3685032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상세정보 / 리뷰 / 교환반품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전환 구현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81344" y="3182112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81344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867144" y="3310128"/>
            <a:ext cx="1847088" cy="292608"/>
          </a:xfrm>
          <a:prstGeom prst="roundRect">
            <a:avLst>
              <a:gd name="adj" fmla="val 21875"/>
            </a:avLst>
          </a:prstGeom>
          <a:solidFill>
            <a:srgbClr val="5E4585"/>
          </a:solidFill>
          <a:ln/>
        </p:spPr>
      </p:sp>
      <p:sp>
        <p:nvSpPr>
          <p:cNvPr id="34" name="Text 32"/>
          <p:cNvSpPr/>
          <p:nvPr/>
        </p:nvSpPr>
        <p:spPr>
          <a:xfrm>
            <a:off x="6867144" y="331012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영역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91072" y="3685032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평점, 리뷰 카운트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구매자 리뷰 목록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201168"/>
            <a:ext cx="150876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7178040" y="2011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UX Screenshot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Info — 상품 정보 UI &amp; 토스트</a:t>
            </a:r>
            <a:endParaRPr lang="en-US" sz="1400" dirty="0"/>
          </a:p>
        </p:txBody>
      </p:sp>
      <p:pic>
        <p:nvPicPr>
          <p:cNvPr id="5" name="Image 0" descr="/mnt/user-data/uploads/캡처1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566928"/>
            <a:ext cx="8229600" cy="41879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846320"/>
            <a:ext cx="8229600" cy="182880"/>
          </a:xfrm>
          <a:prstGeom prst="roundRect">
            <a:avLst>
              <a:gd name="adj" fmla="val 30000"/>
            </a:avLst>
          </a:prstGeom>
          <a:solidFill>
            <a:srgbClr val="EDE9F7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83717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완료 시 토스트 메시지 "구매 정보가 저장되었습니다"가 상단에 표시됩니다.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PURCHASE UX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UX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 선택, 장바구니, 바로구매 버튼 흐름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 컨트롤 구현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73935"/>
            <a:ext cx="4023360" cy="3239853"/>
          </a:xfrm>
          <a:prstGeom prst="roundRect">
            <a:avLst>
              <a:gd name="adj" fmla="val 2985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</p:sp>
      <p:sp>
        <p:nvSpPr>
          <p:cNvPr id="9" name="Text 7"/>
          <p:cNvSpPr/>
          <p:nvPr/>
        </p:nvSpPr>
        <p:spPr>
          <a:xfrm>
            <a:off x="4663440" y="14630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버튼 4종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783080"/>
            <a:ext cx="402336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73168" y="1911096"/>
            <a:ext cx="1371600" cy="320040"/>
          </a:xfrm>
          <a:prstGeom prst="roundRect">
            <a:avLst>
              <a:gd name="adj" fmla="val 28571"/>
            </a:avLst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19110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선물하기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36208" y="1783080"/>
            <a:ext cx="234086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수신자 정보 입력 후 선물 주문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569464"/>
            <a:ext cx="402336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73168" y="2697480"/>
            <a:ext cx="1371600" cy="320040"/>
          </a:xfrm>
          <a:prstGeom prst="roundRect">
            <a:avLst>
              <a:gd name="adj" fmla="val 28571"/>
            </a:avLst>
          </a:prstGeom>
          <a:solidFill>
            <a:srgbClr val="8B6FAE"/>
          </a:solidFill>
          <a:ln/>
        </p:spPr>
      </p:sp>
      <p:sp>
        <p:nvSpPr>
          <p:cNvPr id="16" name="Text 14"/>
          <p:cNvSpPr/>
          <p:nvPr/>
        </p:nvSpPr>
        <p:spPr>
          <a:xfrm>
            <a:off x="4773168" y="2697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36208" y="2569464"/>
            <a:ext cx="234086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localStorage에 상품 추가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355848"/>
            <a:ext cx="402336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73168" y="3483864"/>
            <a:ext cx="1371600" cy="320040"/>
          </a:xfrm>
          <a:prstGeom prst="roundRect">
            <a:avLst>
              <a:gd name="adj" fmla="val 28571"/>
            </a:avLst>
          </a:prstGeom>
          <a:solidFill>
            <a:srgbClr val="5E4585"/>
          </a:solidFill>
          <a:ln/>
        </p:spPr>
      </p:sp>
      <p:sp>
        <p:nvSpPr>
          <p:cNvPr id="20" name="Text 18"/>
          <p:cNvSpPr/>
          <p:nvPr/>
        </p:nvSpPr>
        <p:spPr>
          <a:xfrm>
            <a:off x="4773168" y="348386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바로드림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36208" y="3355848"/>
            <a:ext cx="234086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교보문고 매장 픽업 주문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4142232"/>
            <a:ext cx="402336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73168" y="4270248"/>
            <a:ext cx="1371600" cy="320040"/>
          </a:xfrm>
          <a:prstGeom prst="roundRect">
            <a:avLst>
              <a:gd name="adj" fmla="val 28571"/>
            </a:avLst>
          </a:prstGeom>
          <a:solidFill>
            <a:srgbClr val="4DAC27"/>
          </a:solidFill>
          <a:ln/>
        </p:spPr>
      </p:sp>
      <p:sp>
        <p:nvSpPr>
          <p:cNvPr id="24" name="Text 22"/>
          <p:cNvSpPr/>
          <p:nvPr/>
        </p:nvSpPr>
        <p:spPr>
          <a:xfrm>
            <a:off x="4773168" y="42702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바로구매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36208" y="4142232"/>
            <a:ext cx="232216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</a:t>
            </a: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구매처리</a:t>
            </a: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(localStorage 저장)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201168"/>
            <a:ext cx="150876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7178040" y="2011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UX Screenshot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UX — 장바구니 &amp; 수량 조절</a:t>
            </a:r>
            <a:endParaRPr lang="en-US" sz="1400" dirty="0"/>
          </a:p>
        </p:txBody>
      </p:sp>
      <p:pic>
        <p:nvPicPr>
          <p:cNvPr id="5" name="Image 0" descr="/mnt/user-data/uploads/캡처1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566928"/>
            <a:ext cx="8229600" cy="41879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846320"/>
            <a:ext cx="8229600" cy="182880"/>
          </a:xfrm>
          <a:prstGeom prst="roundRect">
            <a:avLst>
              <a:gd name="adj" fmla="val 30000"/>
            </a:avLst>
          </a:prstGeom>
          <a:solidFill>
            <a:srgbClr val="EDE9F7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83717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 추가 시 토스트 알림이 표시되고, 수량 변경에 따라 총 금액이 실시간 업데이트됩니다.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FIXED BAR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Purchase Bar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고정 구매바로 구매 액션 접근성 개선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206240" cy="346100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64208"/>
            <a:ext cx="1691640" cy="256032"/>
          </a:xfrm>
          <a:prstGeom prst="roundRect">
            <a:avLst>
              <a:gd name="adj" fmla="val 21429"/>
            </a:avLst>
          </a:prstGeom>
          <a:solidFill>
            <a:srgbClr val="5E458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642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position: fixed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423160" y="162763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스크롤과 무관하게 화면 하단에 고정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169164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585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총 상품 금액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23160" y="222199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 변경 시 실시간 가격 업데이트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852928"/>
            <a:ext cx="1691640" cy="256032"/>
          </a:xfrm>
          <a:prstGeom prst="roundRect">
            <a:avLst>
              <a:gd name="adj" fmla="val 21429"/>
            </a:avLst>
          </a:prstGeom>
          <a:solidFill>
            <a:srgbClr val="5E458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529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수량 컨트롤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23160" y="281635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-/+ 버튼, 최솟값 1 제한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47288"/>
            <a:ext cx="169164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472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4종 버튼 배치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23160" y="341071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선물 / 장바구니 / 바로드림 / 바로구매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041648"/>
            <a:ext cx="1691640" cy="256032"/>
          </a:xfrm>
          <a:prstGeom prst="roundRect">
            <a:avLst>
              <a:gd name="adj" fmla="val 21429"/>
            </a:avLst>
          </a:prstGeom>
          <a:solidFill>
            <a:srgbClr val="5E458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416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z-index 관리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423160" y="400507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요소 위에 </a:t>
            </a:r>
            <a:r>
              <a:rPr lang="en-US" sz="1100" dirty="0" err="1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</a:t>
            </a: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</a:t>
            </a:r>
            <a:endParaRPr lang="en-US" sz="1100" dirty="0">
              <a:solidFill>
                <a:srgbClr val="2A2A25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(z-index:800)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745283"/>
            <a:ext cx="3840480" cy="1810512"/>
          </a:xfrm>
          <a:prstGeom prst="roundRect">
            <a:avLst>
              <a:gd name="adj" fmla="val 6061"/>
            </a:avLst>
          </a:prstGeom>
          <a:solidFill>
            <a:srgbClr val="EDE9F7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56632" y="901827"/>
            <a:ext cx="3511296" cy="329184"/>
          </a:xfrm>
          <a:prstGeom prst="roundRect">
            <a:avLst>
              <a:gd name="adj" fmla="val 22222"/>
            </a:avLst>
          </a:prstGeom>
          <a:solidFill>
            <a:srgbClr val="5E4585"/>
          </a:solidFill>
          <a:ln/>
        </p:spPr>
      </p:sp>
      <p:sp>
        <p:nvSpPr>
          <p:cNvPr id="24" name="Text 22"/>
          <p:cNvSpPr/>
          <p:nvPr/>
        </p:nvSpPr>
        <p:spPr>
          <a:xfrm>
            <a:off x="5010912" y="90306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🛒  UX Point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48656" y="1487597"/>
            <a:ext cx="201168" cy="201168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1416602"/>
            <a:ext cx="3200400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중에도 구매 버튼 항상 접근 가능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249375" y="1853225"/>
            <a:ext cx="201168" cy="201168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15682" y="1777025"/>
            <a:ext cx="3200400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 변경 시 총 금액 실시간 반영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49375" y="2206793"/>
            <a:ext cx="201168" cy="201168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5682" y="2130593"/>
            <a:ext cx="3200400" cy="353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구매/장바구니 완료 토스트 피드백 제공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708195"/>
            <a:ext cx="3840480" cy="2215849"/>
          </a:xfrm>
          <a:prstGeom prst="roundRect">
            <a:avLst>
              <a:gd name="adj" fmla="val 6098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LOCALSTORAGE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localStorage Data Handling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장바구니/구매 데이터를 브라우저 저장소에 저장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846320" cy="3566160"/>
          </a:xfrm>
          <a:prstGeom prst="roundRect">
            <a:avLst>
              <a:gd name="adj" fmla="val 2564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</p:sp>
      <p:sp>
        <p:nvSpPr>
          <p:cNvPr id="8" name="Text 6"/>
          <p:cNvSpPr/>
          <p:nvPr/>
        </p:nvSpPr>
        <p:spPr>
          <a:xfrm>
            <a:off x="5486400" y="1463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및 한계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1828800"/>
            <a:ext cx="32004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96128" y="190195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8B6FAE"/>
          </a:solidFill>
          <a:ln/>
        </p:spPr>
      </p:sp>
      <p:sp>
        <p:nvSpPr>
          <p:cNvPr id="11" name="Text 9"/>
          <p:cNvSpPr/>
          <p:nvPr/>
        </p:nvSpPr>
        <p:spPr>
          <a:xfrm>
            <a:off x="5596128" y="1901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키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56832" y="187452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"orders"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문자열로 직렬화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2633472"/>
            <a:ext cx="32004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596128" y="2706624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5E4585"/>
          </a:solidFill>
          <a:ln/>
        </p:spPr>
      </p:sp>
      <p:sp>
        <p:nvSpPr>
          <p:cNvPr id="15" name="Text 13"/>
          <p:cNvSpPr/>
          <p:nvPr/>
        </p:nvSpPr>
        <p:spPr>
          <a:xfrm>
            <a:off x="5596128" y="27066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페이로드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656832" y="267919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createOrderPayload로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객체 구성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0" y="3438144"/>
            <a:ext cx="32004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96128" y="3511296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5596128" y="35112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한계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56832" y="348386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미연동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초기화 시 데이터 소실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4242816"/>
            <a:ext cx="32004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96128" y="4315968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4DAC27"/>
          </a:solidFill>
          <a:ln/>
        </p:spPr>
      </p:sp>
      <p:sp>
        <p:nvSpPr>
          <p:cNvPr id="23" name="Text 21"/>
          <p:cNvSpPr/>
          <p:nvPr/>
        </p:nvSpPr>
        <p:spPr>
          <a:xfrm>
            <a:off x="5596128" y="43159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실서비스 개선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656832" y="4288536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API 연동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인증 기반 저장 필요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REVIEW UI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Section UI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리뷰, 평점, 사용자 후기 UI 구성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206240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002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 리뷰 섹션 구성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093976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9397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평점 표시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74520" y="20574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별점 아이콘 + 숫자 점수 (10점 만점)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624328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5E458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2432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카운트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74520" y="258775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구매자 리뷰 수 표시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546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카드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74520" y="311810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구매자 ID / 날짜 / 내용 / 별점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685032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5E458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8503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연동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74520" y="364845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클릭 시 "리뷰" 섹션 스크롤 이동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215384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8B6FA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1538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상태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74520" y="41788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없을 시 안내 메시지 표시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1463040"/>
            <a:ext cx="3840480" cy="3401568"/>
          </a:xfrm>
          <a:prstGeom prst="roundRect">
            <a:avLst>
              <a:gd name="adj" fmla="val 3226"/>
            </a:avLst>
          </a:prstGeom>
          <a:solidFill>
            <a:srgbClr val="EDE9F7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10912" y="1627632"/>
            <a:ext cx="3511296" cy="329184"/>
          </a:xfrm>
          <a:prstGeom prst="roundRect">
            <a:avLst>
              <a:gd name="adj" fmla="val 22222"/>
            </a:avLst>
          </a:prstGeom>
          <a:solidFill>
            <a:srgbClr val="5E4585"/>
          </a:solidFill>
          <a:ln/>
        </p:spPr>
      </p:sp>
      <p:sp>
        <p:nvSpPr>
          <p:cNvPr id="25" name="Text 23"/>
          <p:cNvSpPr/>
          <p:nvPr/>
        </p:nvSpPr>
        <p:spPr>
          <a:xfrm>
            <a:off x="5010912" y="1627632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  Review UI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47488" y="2176272"/>
            <a:ext cx="201168" cy="201168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208483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renderReviewSummary — 10점 만점 평점 카드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47488" y="2706624"/>
            <a:ext cx="201168" cy="201168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261518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renderReviewKeywords — 반응 퍼센트 표시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47488" y="3236976"/>
            <a:ext cx="201168" cy="201168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3145536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renderReviewList — 구매자 후기 렌더링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47488" y="3767328"/>
            <a:ext cx="201168" cy="201168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49240" y="367588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클릭 시 리뷰 섹션 스크롤 이동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47488" y="4297680"/>
            <a:ext cx="201168" cy="201168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9240" y="420624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없을 시 빈 상태 안내 UI 표시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201168"/>
            <a:ext cx="150876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7178040" y="2011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Section Screenshot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Section — 리뷰 &amp; 평점 UI</a:t>
            </a:r>
            <a:endParaRPr lang="en-US" sz="1400" dirty="0"/>
          </a:p>
        </p:txBody>
      </p:sp>
      <p:pic>
        <p:nvPicPr>
          <p:cNvPr id="5" name="Image 0" descr="/mnt/user-data/uploads/캡처1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566928"/>
            <a:ext cx="8229600" cy="41879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846320"/>
            <a:ext cx="8229600" cy="182880"/>
          </a:xfrm>
          <a:prstGeom prst="roundRect">
            <a:avLst>
              <a:gd name="adj" fmla="val 30000"/>
            </a:avLst>
          </a:prstGeom>
          <a:solidFill>
            <a:srgbClr val="EDE9F7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83717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구매자 리뷰 목록 — 10점 만점 평점, 반응 태그(최고예요/공감돼요 등), 후기 텍스트가 렌더링됩니다.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LAYOUT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 Stability &amp; Responsive Check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기준 레이아웃 안정성 및 반응형 점검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3401568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72768"/>
            <a:ext cx="2468880" cy="320040"/>
          </a:xfrm>
          <a:prstGeom prst="roundRect">
            <a:avLst>
              <a:gd name="adj" fmla="val 22857"/>
            </a:avLst>
          </a:prstGeom>
          <a:solidFill>
            <a:srgbClr val="5E458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안정성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2103120"/>
            <a:ext cx="182880" cy="182880"/>
          </a:xfrm>
          <a:prstGeom prst="ellipse">
            <a:avLst/>
          </a:prstGeom>
          <a:solidFill>
            <a:srgbClr val="5E4585"/>
          </a:solidFill>
          <a:ln w="12700">
            <a:solidFill>
              <a:srgbClr val="5E45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01168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1200px max-width 컨테이너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2761488"/>
            <a:ext cx="182880" cy="182880"/>
          </a:xfrm>
          <a:prstGeom prst="ellipse">
            <a:avLst/>
          </a:prstGeom>
          <a:solidFill>
            <a:srgbClr val="5E4585"/>
          </a:solidFill>
          <a:ln w="12700">
            <a:solidFill>
              <a:srgbClr val="5E45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67004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카드 그리드 정렬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3419856"/>
            <a:ext cx="182880" cy="182880"/>
          </a:xfrm>
          <a:prstGeom prst="ellipse">
            <a:avLst/>
          </a:prstGeom>
          <a:solidFill>
            <a:srgbClr val="5E4585"/>
          </a:solidFill>
          <a:ln w="12700">
            <a:solidFill>
              <a:srgbClr val="5E45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328416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 깨짐 없는 배치 확인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19272" y="1463040"/>
            <a:ext cx="2651760" cy="3401568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10712" y="1572768"/>
            <a:ext cx="2468880" cy="320040"/>
          </a:xfrm>
          <a:prstGeom prst="roundRect">
            <a:avLst>
              <a:gd name="adj" fmla="val 22857"/>
            </a:avLst>
          </a:prstGeom>
          <a:solidFill>
            <a:srgbClr val="8B6FAE"/>
          </a:solidFill>
          <a:ln/>
        </p:spPr>
      </p:sp>
      <p:sp>
        <p:nvSpPr>
          <p:cNvPr id="17" name="Text 15"/>
          <p:cNvSpPr/>
          <p:nvPr/>
        </p:nvSpPr>
        <p:spPr>
          <a:xfrm>
            <a:off x="3410712" y="1572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메뉴 오버레이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20440" y="2103120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201168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 패널 + 딤드 배경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20440" y="2761488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267004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패널 열림 시 배경 스크롤 잠금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20440" y="3419856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4760" y="3328416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클릭 / X 버튼으로 닫기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81344" y="1463040"/>
            <a:ext cx="2651760" cy="3401568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72784" y="1572768"/>
            <a:ext cx="2468880" cy="320040"/>
          </a:xfrm>
          <a:prstGeom prst="roundRect">
            <a:avLst>
              <a:gd name="adj" fmla="val 22857"/>
            </a:avLst>
          </a:prstGeom>
          <a:solidFill>
            <a:srgbClr val="4DAC27"/>
          </a:solidFill>
          <a:ln/>
        </p:spPr>
      </p:sp>
      <p:sp>
        <p:nvSpPr>
          <p:cNvPr id="26" name="Text 24"/>
          <p:cNvSpPr/>
          <p:nvPr/>
        </p:nvSpPr>
        <p:spPr>
          <a:xfrm>
            <a:off x="6272784" y="1572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구매바 + 스크롤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82512" y="2103120"/>
            <a:ext cx="182880" cy="182880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56832" y="201168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고정 구매바 (position:fixed)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82512" y="2761488"/>
            <a:ext cx="182880" cy="182880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56832" y="267004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overflow-x 제어로 가로 스크롤 개선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82512" y="3419856"/>
            <a:ext cx="182880" cy="182880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3328416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viewport meta 설정 점검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645152"/>
            <a:ext cx="8229600" cy="347472"/>
          </a:xfrm>
          <a:prstGeom prst="roundRect">
            <a:avLst>
              <a:gd name="adj" fmla="val 21053"/>
            </a:avLst>
          </a:prstGeom>
          <a:solidFill>
            <a:srgbClr val="EDE9F7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64515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PC 환경 기준으로 레이아웃 안정성을 점검했으며, 모바일 세부 대응은 추후 개선 예정입니다.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201168"/>
            <a:ext cx="150876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7178040" y="2011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Screenshot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 — 메인 / 사이드메뉴 / 상세 페이지</a:t>
            </a:r>
            <a:endParaRPr lang="en-US" sz="1400" dirty="0"/>
          </a:p>
        </p:txBody>
      </p:sp>
      <p:pic>
        <p:nvPicPr>
          <p:cNvPr id="5" name="Image 0" descr="/mnt/user-data/uploads/캡처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566928"/>
            <a:ext cx="2560320" cy="4187952"/>
          </a:xfrm>
          <a:prstGeom prst="rect">
            <a:avLst/>
          </a:prstGeom>
        </p:spPr>
      </p:pic>
      <p:pic>
        <p:nvPicPr>
          <p:cNvPr id="6" name="Image 1" descr="/mnt/user-data/uploads/캡처7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91840" y="566928"/>
            <a:ext cx="2560320" cy="4187952"/>
          </a:xfrm>
          <a:prstGeom prst="rect">
            <a:avLst/>
          </a:prstGeom>
        </p:spPr>
      </p:pic>
      <p:pic>
        <p:nvPicPr>
          <p:cNvPr id="7" name="Image 2" descr="/mnt/user-data/uploads/캡처8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26480" y="566928"/>
            <a:ext cx="2560320" cy="4187952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457200" y="4846320"/>
            <a:ext cx="8229600" cy="182880"/>
          </a:xfrm>
          <a:prstGeom prst="roundRect">
            <a:avLst>
              <a:gd name="adj" fmla="val 30000"/>
            </a:avLst>
          </a:prstGeom>
          <a:solidFill>
            <a:srgbClr val="EDE9F7"/>
          </a:solidFill>
          <a:ln/>
        </p:spPr>
      </p:sp>
      <p:sp>
        <p:nvSpPr>
          <p:cNvPr id="9" name="Text 4"/>
          <p:cNvSpPr/>
          <p:nvPr/>
        </p:nvSpPr>
        <p:spPr>
          <a:xfrm>
            <a:off x="640080" y="483717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기준 메인 페이지, 전체메뉴 사이드 패널, 상세 페이지의 레이아웃 안정성을 확인합니다.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REFACTORING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Refactoring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509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fragments </a:t>
            </a:r>
            <a:r>
              <a:rPr lang="ko-KR" alt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 및 공통 </a:t>
            </a:r>
            <a:r>
              <a:rPr lang="en-US" altLang="ko-KR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include </a:t>
            </a:r>
            <a:r>
              <a:rPr lang="ko-KR" altLang="en-US" sz="115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로더</a:t>
            </a:r>
            <a:r>
              <a:rPr lang="ko-KR" alt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구조 개선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26864" y="123444"/>
            <a:ext cx="4059936" cy="1476756"/>
          </a:xfrm>
          <a:prstGeom prst="roundRect">
            <a:avLst>
              <a:gd name="adj" fmla="val 3226"/>
            </a:avLst>
          </a:prstGeom>
          <a:solidFill>
            <a:srgbClr val="EDE9F7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Text 5"/>
          <p:cNvSpPr/>
          <p:nvPr/>
        </p:nvSpPr>
        <p:spPr>
          <a:xfrm>
            <a:off x="4846320" y="914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 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9736" y="1225296"/>
            <a:ext cx="4184523" cy="3767328"/>
          </a:xfrm>
          <a:prstGeom prst="roundRect">
            <a:avLst>
              <a:gd name="adj" fmla="val 3448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</p:sp>
      <p:sp>
        <p:nvSpPr>
          <p:cNvPr id="10" name="Shape 8"/>
          <p:cNvSpPr/>
          <p:nvPr/>
        </p:nvSpPr>
        <p:spPr>
          <a:xfrm>
            <a:off x="4681727" y="1640014"/>
            <a:ext cx="4059937" cy="338004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6002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AC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 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2029968"/>
            <a:ext cx="3730752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Shape 11"/>
          <p:cNvSpPr/>
          <p:nvPr/>
        </p:nvSpPr>
        <p:spPr>
          <a:xfrm>
            <a:off x="4956048" y="2121408"/>
            <a:ext cx="1463040" cy="274320"/>
          </a:xfrm>
          <a:prstGeom prst="roundRect">
            <a:avLst>
              <a:gd name="adj" fmla="val 23333"/>
            </a:avLst>
          </a:prstGeom>
          <a:solidFill>
            <a:srgbClr val="4DAC27"/>
          </a:solidFill>
          <a:ln/>
        </p:spPr>
      </p:sp>
      <p:sp>
        <p:nvSpPr>
          <p:cNvPr id="14" name="Text 12"/>
          <p:cNvSpPr/>
          <p:nvPr/>
        </p:nvSpPr>
        <p:spPr>
          <a:xfrm>
            <a:off x="4956048" y="2121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reset.css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73952" y="2029968"/>
            <a:ext cx="19933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기본값 초기화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2779776"/>
            <a:ext cx="3730752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56048" y="2871216"/>
            <a:ext cx="1463040" cy="274320"/>
          </a:xfrm>
          <a:prstGeom prst="roundRect">
            <a:avLst>
              <a:gd name="adj" fmla="val 23333"/>
            </a:avLst>
          </a:prstGeom>
          <a:solidFill>
            <a:srgbClr val="4DAC27"/>
          </a:solidFill>
          <a:ln/>
        </p:spPr>
      </p:sp>
      <p:sp>
        <p:nvSpPr>
          <p:cNvPr id="18" name="Text 16"/>
          <p:cNvSpPr/>
          <p:nvPr/>
        </p:nvSpPr>
        <p:spPr>
          <a:xfrm>
            <a:off x="4956048" y="28712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common.css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73952" y="2779776"/>
            <a:ext cx="19933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변수, 공통 컴포넌트, 레이아웃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529584"/>
            <a:ext cx="3730752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56048" y="3621024"/>
            <a:ext cx="1463040" cy="274320"/>
          </a:xfrm>
          <a:prstGeom prst="roundRect">
            <a:avLst>
              <a:gd name="adj" fmla="val 23333"/>
            </a:avLst>
          </a:prstGeom>
          <a:solidFill>
            <a:srgbClr val="4DAC27"/>
          </a:solidFill>
          <a:ln/>
        </p:spPr>
      </p:sp>
      <p:sp>
        <p:nvSpPr>
          <p:cNvPr id="22" name="Text 20"/>
          <p:cNvSpPr/>
          <p:nvPr/>
        </p:nvSpPr>
        <p:spPr>
          <a:xfrm>
            <a:off x="4956048" y="3621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73952" y="3529584"/>
            <a:ext cx="19933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페이지 전용 스타일만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4279392"/>
            <a:ext cx="3730752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56048" y="4370832"/>
            <a:ext cx="1463040" cy="274320"/>
          </a:xfrm>
          <a:prstGeom prst="roundRect">
            <a:avLst>
              <a:gd name="adj" fmla="val 23333"/>
            </a:avLst>
          </a:prstGeom>
          <a:solidFill>
            <a:srgbClr val="4DAC27"/>
          </a:solidFill>
          <a:ln/>
        </p:spPr>
      </p:sp>
      <p:sp>
        <p:nvSpPr>
          <p:cNvPr id="26" name="Text 24"/>
          <p:cNvSpPr/>
          <p:nvPr/>
        </p:nvSpPr>
        <p:spPr>
          <a:xfrm>
            <a:off x="4956048" y="4370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sub.css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73952" y="4279392"/>
            <a:ext cx="19933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페이지 전용 스타일만</a:t>
            </a:r>
            <a:endParaRPr lang="en-US" sz="1050" dirty="0"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4F5514DC-E88F-45B9-B5B0-616A951174FF}"/>
              </a:ext>
            </a:extLst>
          </p:cNvPr>
          <p:cNvSpPr/>
          <p:nvPr/>
        </p:nvSpPr>
        <p:spPr>
          <a:xfrm>
            <a:off x="4846320" y="412623"/>
            <a:ext cx="3730752" cy="1059561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161B5C38-ED51-41A9-9E64-1C79B023361B}"/>
              </a:ext>
            </a:extLst>
          </p:cNvPr>
          <p:cNvSpPr/>
          <p:nvPr/>
        </p:nvSpPr>
        <p:spPr>
          <a:xfrm>
            <a:off x="5166360" y="500252"/>
            <a:ext cx="3154680" cy="8439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index.html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섹션 구조가 길게 누적됨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 / footer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재사용이 어려움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섹션이 늘어날수록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유지보수 부담 증가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섹션 로딩 후 초기화 흐름 관리가 필요</a:t>
            </a:r>
            <a:endParaRPr 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5E45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RISK MGMT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4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Management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 노출 방지 및 표현 리스크 관리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005072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36192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🔑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234440" y="1609344"/>
            <a:ext cx="3108960" cy="347472"/>
          </a:xfrm>
          <a:prstGeom prst="roundRect">
            <a:avLst>
              <a:gd name="adj" fmla="val 21053"/>
            </a:avLst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160934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 노출 리스크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084832"/>
            <a:ext cx="3785616" cy="594360"/>
          </a:xfrm>
          <a:prstGeom prst="roundRect">
            <a:avLst>
              <a:gd name="adj" fmla="val 12308"/>
            </a:avLst>
          </a:prstGeom>
          <a:solidFill>
            <a:srgbClr val="FEE2E2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103120"/>
            <a:ext cx="36027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 문제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2322576"/>
            <a:ext cx="3602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JavaScript 코드에 API 키 하드코딩 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저장소에 그대로 노출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2779776"/>
            <a:ext cx="3785616" cy="475488"/>
          </a:xfrm>
          <a:prstGeom prst="roundRect">
            <a:avLst>
              <a:gd name="adj" fmla="val 15385"/>
            </a:avLst>
          </a:prstGeom>
          <a:solidFill>
            <a:srgbClr val="E8F5E2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798064"/>
            <a:ext cx="36027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AC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단기 대응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2962656"/>
            <a:ext cx="3602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내 YOUR_API_KEY로 표기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(실제 키는 .env 또는 별도 관리)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3346704"/>
            <a:ext cx="3785616" cy="475488"/>
          </a:xfrm>
          <a:prstGeom prst="roundRect">
            <a:avLst>
              <a:gd name="adj" fmla="val 15385"/>
            </a:avLst>
          </a:prstGeom>
          <a:solidFill>
            <a:srgbClr val="EDE9F7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364992"/>
            <a:ext cx="36027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장기 개선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3529584"/>
            <a:ext cx="3602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실서비스에서는 백엔드 프록시 구조로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키를 서버에서만 사용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463040"/>
            <a:ext cx="4005072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8B6FAE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1536192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5440680" y="1609344"/>
            <a:ext cx="3108960" cy="347472"/>
          </a:xfrm>
          <a:prstGeom prst="roundRect">
            <a:avLst>
              <a:gd name="adj" fmla="val 21053"/>
            </a:avLst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160934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"클론" 표현 리스크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73168" y="2084832"/>
            <a:ext cx="3785616" cy="594360"/>
          </a:xfrm>
          <a:prstGeom prst="roundRect">
            <a:avLst>
              <a:gd name="adj" fmla="val 12308"/>
            </a:avLst>
          </a:prstGeom>
          <a:solidFill>
            <a:srgbClr val="FEE2E2"/>
          </a:solidFill>
          <a:ln/>
        </p:spPr>
      </p:sp>
      <p:sp>
        <p:nvSpPr>
          <p:cNvPr id="24" name="Text 22"/>
          <p:cNvSpPr/>
          <p:nvPr/>
        </p:nvSpPr>
        <p:spPr>
          <a:xfrm>
            <a:off x="4864608" y="2103120"/>
            <a:ext cx="36027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 문제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64608" y="2322576"/>
            <a:ext cx="3602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클론 = 흉내로 오해 가능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 차별화 어려움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73168" y="2779776"/>
            <a:ext cx="3785616" cy="475488"/>
          </a:xfrm>
          <a:prstGeom prst="roundRect">
            <a:avLst>
              <a:gd name="adj" fmla="val 15385"/>
            </a:avLst>
          </a:prstGeom>
          <a:solidFill>
            <a:srgbClr val="E8F5E2"/>
          </a:solidFill>
          <a:ln/>
        </p:spPr>
      </p:sp>
      <p:sp>
        <p:nvSpPr>
          <p:cNvPr id="27" name="Text 25"/>
          <p:cNvSpPr/>
          <p:nvPr/>
        </p:nvSpPr>
        <p:spPr>
          <a:xfrm>
            <a:off x="4864608" y="2798064"/>
            <a:ext cx="36027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AC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단기 대응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64608" y="2962656"/>
            <a:ext cx="3602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제목: Kyobo Book Clone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(학습/연습 목적 명시)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73168" y="3346704"/>
            <a:ext cx="3785616" cy="475488"/>
          </a:xfrm>
          <a:prstGeom prst="roundRect">
            <a:avLst>
              <a:gd name="adj" fmla="val 15385"/>
            </a:avLst>
          </a:prstGeom>
          <a:solidFill>
            <a:srgbClr val="EDE9F7"/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3364992"/>
            <a:ext cx="36027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45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장기 개선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64608" y="3529584"/>
            <a:ext cx="3602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설명: "교보문고 UI를 참고한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A2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연동형 도서 탐색 웹페이지"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5E4585">
              <a:alpha val="40000"/>
            </a:srgbClr>
          </a:solidFill>
          <a:ln w="12700">
            <a:solidFill>
              <a:srgbClr val="5E458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8B6FAE">
              <a:alpha val="35000"/>
            </a:srgbClr>
          </a:solidFill>
          <a:ln w="12700">
            <a:solidFill>
              <a:srgbClr val="8B6FAE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657600"/>
            <a:ext cx="1828800" cy="1828800"/>
          </a:xfrm>
          <a:prstGeom prst="ellipse">
            <a:avLst/>
          </a:prstGeom>
          <a:solidFill>
            <a:srgbClr val="4DAC27">
              <a:alpha val="45000"/>
            </a:srgbClr>
          </a:solidFill>
          <a:ln w="12700">
            <a:solidFill>
              <a:srgbClr val="4DAC27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9456"/>
            <a:ext cx="1691640" cy="274320"/>
          </a:xfrm>
          <a:prstGeom prst="roundRect">
            <a:avLst>
              <a:gd name="adj" fmla="val 23333"/>
            </a:avLst>
          </a:prstGeom>
          <a:solidFill>
            <a:srgbClr val="4D3A7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94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RESULT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&amp; Retrospective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3D2A6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6187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8B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 GitHub Pages:  </a:t>
            </a:r>
            <a:r>
              <a:rPr lang="en-US" sz="1200" b="1" dirty="0">
                <a:solidFill>
                  <a:srgbClr val="4DA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ebj0925-cyber.github.io/0331_01</a:t>
            </a:r>
            <a:r>
              <a:rPr lang="en-US" sz="1200" dirty="0">
                <a:solidFill>
                  <a:srgbClr val="9D8B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📁  Repo:  </a:t>
            </a:r>
            <a:r>
              <a:rPr lang="en-US" sz="1200" dirty="0">
                <a:solidFill>
                  <a:srgbClr val="9D8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github.com/ebj0925-cyber/0331_01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2697480" cy="2944368"/>
          </a:xfrm>
          <a:prstGeom prst="roundRect">
            <a:avLst>
              <a:gd name="adj" fmla="val 4068"/>
            </a:avLst>
          </a:prstGeom>
          <a:solidFill>
            <a:srgbClr val="3D2A6A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029968"/>
            <a:ext cx="2514600" cy="320040"/>
          </a:xfrm>
          <a:prstGeom prst="roundRect">
            <a:avLst>
              <a:gd name="adj" fmla="val 22857"/>
            </a:avLst>
          </a:prstGeom>
          <a:solidFill>
            <a:srgbClr val="8B6FA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299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  배운 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542032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468880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REST API 데이터를 화면 구조에 맞게 가공하는 경험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090672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017520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ISBN 기반 URL 파라미터 라우팅 실무 패턴 이해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3639312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566160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</a:t>
            </a:r>
            <a:r>
              <a:rPr lang="en-US" altLang="ko-KR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fallback, </a:t>
            </a:r>
            <a:r>
              <a:rPr lang="ko-KR" alt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상태 </a:t>
            </a:r>
            <a:r>
              <a:rPr lang="en-US" altLang="ko-KR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</a:t>
            </a:r>
            <a:r>
              <a:rPr lang="ko-KR" alt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경험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4187952"/>
            <a:ext cx="182880" cy="182880"/>
          </a:xfrm>
          <a:prstGeom prst="ellipse">
            <a:avLst/>
          </a:prstGeom>
          <a:solidFill>
            <a:srgbClr val="8B6FAE"/>
          </a:solidFill>
          <a:ln w="12700">
            <a:solidFill>
              <a:srgbClr val="8B6F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114800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CSS 역할 분리 (reset / common / page)</a:t>
            </a:r>
            <a:r>
              <a:rPr lang="ko-KR" alt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공통 스타일 관리 경험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10128" y="1920240"/>
            <a:ext cx="2697480" cy="2944368"/>
          </a:xfrm>
          <a:prstGeom prst="roundRect">
            <a:avLst>
              <a:gd name="adj" fmla="val 4068"/>
            </a:avLst>
          </a:prstGeom>
          <a:solidFill>
            <a:srgbClr val="3D2A6A"/>
          </a:solidFill>
          <a:ln/>
        </p:spPr>
      </p:sp>
      <p:sp>
        <p:nvSpPr>
          <p:cNvPr id="22" name="Shape 20"/>
          <p:cNvSpPr/>
          <p:nvPr/>
        </p:nvSpPr>
        <p:spPr>
          <a:xfrm>
            <a:off x="3401568" y="2029968"/>
            <a:ext cx="2514600" cy="320040"/>
          </a:xfrm>
          <a:prstGeom prst="roundRect">
            <a:avLst>
              <a:gd name="adj" fmla="val 22857"/>
            </a:avLst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3401568" y="20299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 아쉬운 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93008" y="2542032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67328" y="2468880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장바구니/구매는 localStorage 데모 수준 (서버 미연동)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93008" y="3090672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67328" y="3017520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키가 클라이언트에 노출되는 보안 리스크 존재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93008" y="3639312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67328" y="3566160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목록 페이지네이션 미구현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93008" y="4187952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67328" y="4114800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리뷰 데이터 연동 미완성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63056" y="1920240"/>
            <a:ext cx="2697480" cy="2944368"/>
          </a:xfrm>
          <a:prstGeom prst="roundRect">
            <a:avLst>
              <a:gd name="adj" fmla="val 4068"/>
            </a:avLst>
          </a:prstGeom>
          <a:solidFill>
            <a:srgbClr val="3D2A6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33" name="Shape 31"/>
          <p:cNvSpPr/>
          <p:nvPr/>
        </p:nvSpPr>
        <p:spPr>
          <a:xfrm>
            <a:off x="6254496" y="2029968"/>
            <a:ext cx="2514600" cy="320040"/>
          </a:xfrm>
          <a:prstGeom prst="roundRect">
            <a:avLst>
              <a:gd name="adj" fmla="val 22857"/>
            </a:avLst>
          </a:prstGeom>
          <a:solidFill>
            <a:srgbClr val="4DAC27"/>
          </a:solidFill>
          <a:ln/>
        </p:spPr>
      </p:sp>
      <p:sp>
        <p:nvSpPr>
          <p:cNvPr id="34" name="Text 32"/>
          <p:cNvSpPr/>
          <p:nvPr/>
        </p:nvSpPr>
        <p:spPr>
          <a:xfrm>
            <a:off x="6254496" y="20299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 개선 가능성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45936" y="2542032"/>
            <a:ext cx="182880" cy="182880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0256" y="2468880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백엔드 프록시로 API 키 보안 처리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45936" y="3090672"/>
            <a:ext cx="182880" cy="182880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0256" y="3017520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</a:t>
            </a:r>
            <a:r>
              <a:rPr 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lang="en-US" sz="950" dirty="0" err="1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</a:t>
            </a:r>
            <a:r>
              <a:rPr 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950" dirty="0" err="1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</a:t>
            </a:r>
            <a:r>
              <a:rPr 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DB </a:t>
            </a:r>
            <a:r>
              <a:rPr lang="en-US" sz="950" dirty="0" err="1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</a:t>
            </a:r>
            <a:r>
              <a:rPr lang="ko-KR" alt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장바구니와 구매 데이터를 서버 </a:t>
            </a:r>
            <a:r>
              <a:rPr lang="en-US" altLang="ko-KR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r>
              <a:rPr lang="ko-KR" alt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연동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45936" y="3639312"/>
            <a:ext cx="182880" cy="182880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0256" y="3566160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목록 페이지네이션 / 카테고리 확장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45936" y="4187952"/>
            <a:ext cx="182880" cy="182880"/>
          </a:xfrm>
          <a:prstGeom prst="ellipse">
            <a:avLst/>
          </a:prstGeom>
          <a:solidFill>
            <a:srgbClr val="4DAC27"/>
          </a:solidFill>
          <a:ln w="12700">
            <a:solidFill>
              <a:srgbClr val="4DAC2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0256" y="4114800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B8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React/Next.js로 컴포넌트화 리팩토링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2790</Words>
  <Application>Microsoft Office PowerPoint</Application>
  <PresentationFormat>화면 슬라이드 쇼(16:9)</PresentationFormat>
  <Paragraphs>661</Paragraphs>
  <Slides>40</Slides>
  <Notes>40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7" baseType="lpstr">
      <vt:lpstr>Malgun Gothic</vt:lpstr>
      <vt:lpstr>Malgun Gothic</vt:lpstr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Kyobo Book Clone Portfolio</dc:title>
  <dc:subject>PptxGenJS Presentation</dc:subject>
  <dc:creator>조은정</dc:creator>
  <cp:lastModifiedBy>402-16</cp:lastModifiedBy>
  <cp:revision>38</cp:revision>
  <dcterms:created xsi:type="dcterms:W3CDTF">2026-06-19T01:10:59Z</dcterms:created>
  <dcterms:modified xsi:type="dcterms:W3CDTF">2026-06-19T03:46:38Z</dcterms:modified>
</cp:coreProperties>
</file>